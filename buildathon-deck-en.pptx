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377440"/>
          </a:xfrm>
          <a:prstGeom prst="rect">
            <a:avLst/>
          </a:prstGeom>
          <a:solidFill>
            <a:srgbClr val="0E1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73152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48640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D4A017"/>
                </a:solidFill>
                <a:latin typeface="Helvetica Neue"/>
              </a:rPr>
              <a:t>XRPL BUILDER · BUILDATHON PROPOSAL · v0.1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1109441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400" b="1">
                <a:solidFill>
                  <a:srgbClr val="F4EFE6"/>
                </a:solidFill>
                <a:latin typeface="Helvetica Neue"/>
              </a:rPr>
              <a:t>Buildathon XRPL Commons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83080"/>
            <a:ext cx="1109441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0">
                <a:solidFill>
                  <a:srgbClr val="F4EFE6"/>
                </a:solidFill>
                <a:latin typeface="Helvetica Neue"/>
              </a:rPr>
              <a:t>Recommendations summary · 12 sections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743200"/>
            <a:ext cx="1109441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8605A"/>
                </a:solidFill>
                <a:latin typeface="Helvetica Neue"/>
              </a:rPr>
              <a:t>One slide per section. The main proposal (recommendation), not the alternatives.</a:t>
            </a:r>
          </a:p>
          <a:p>
            <a:r>
              <a:rPr sz="800" b="0">
                <a:latin typeface="Helvetica Neue"/>
              </a:rPr>
              <a:t/>
            </a:r>
          </a:p>
          <a:p>
            <a:r>
              <a:rPr sz="1400" b="1">
                <a:solidFill>
                  <a:srgbClr val="0E1116"/>
                </a:solidFill>
                <a:latin typeface="Helvetica Neue"/>
              </a:rPr>
              <a:t>Sections covered:</a:t>
            </a:r>
          </a:p>
          <a:p>
            <a:r>
              <a:rPr sz="1200" b="0">
                <a:solidFill>
                  <a:srgbClr val="0E1116"/>
                </a:solidFill>
                <a:latin typeface="Helvetica Neue"/>
              </a:rPr>
              <a:t>  • 00 · Strategic synthesis — 4 models to arbitrate</a:t>
            </a:r>
          </a:p>
          <a:p>
            <a:r>
              <a:rPr sz="1200" b="0">
                <a:solidFill>
                  <a:srgbClr val="0E1116"/>
                </a:solidFill>
                <a:latin typeface="Helvetica Neue"/>
              </a:rPr>
              <a:t>  • 01 · Name · 02 · Format &amp; cadence · 03 · Timing</a:t>
            </a:r>
          </a:p>
          <a:p>
            <a:r>
              <a:rPr sz="1200" b="0">
                <a:solidFill>
                  <a:srgbClr val="0E1116"/>
                </a:solidFill>
                <a:latin typeface="Helvetica Neue"/>
              </a:rPr>
              <a:t>  • 04 · Challenge register · 05 · Prizes</a:t>
            </a:r>
          </a:p>
          <a:p>
            <a:r>
              <a:rPr sz="1200" b="0">
                <a:solidFill>
                  <a:srgbClr val="0E1116"/>
                </a:solidFill>
                <a:latin typeface="Helvetica Neue"/>
              </a:rPr>
              <a:t>  • 06 · Jury composition · 07 · Criteria · 08 · Teams</a:t>
            </a:r>
          </a:p>
          <a:p>
            <a:r>
              <a:rPr sz="1200" b="0">
                <a:solidFill>
                  <a:srgbClr val="0E1116"/>
                </a:solidFill>
                <a:latin typeface="Helvetica Neue"/>
              </a:rPr>
              <a:t>  • 09 · Office Hours · 11 · Inspiration · 12 · Final variants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58605A"/>
                </a:solidFill>
                <a:latin typeface="Helvetica Neue"/>
              </a:rPr>
              <a:t>Source: xrpl-builder.vercel.app/en/buildathon  ·  XRPL Commons committee  ·  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28600" y="0"/>
            <a:ext cx="11963095" cy="1280160"/>
          </a:xfrm>
          <a:prstGeom prst="rect">
            <a:avLst/>
          </a:prstGeom>
          <a:solidFill>
            <a:srgbClr val="ECE6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58605A"/>
                </a:solidFill>
                <a:latin typeface="Helvetica Neue"/>
              </a:rPr>
              <a:t>SECTION 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94360"/>
            <a:ext cx="11185855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E1116"/>
                </a:solidFill>
                <a:latin typeface="Helvetica Neue"/>
              </a:rPr>
              <a:t>Strategic synthesis — 3 models to arbitrate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55448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E87722"/>
                </a:solidFill>
                <a:latin typeface="Helvetica Neue"/>
              </a:rPr>
              <a:t>RECOMMENDATION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28800"/>
            <a:ext cx="1118585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E1116"/>
                </a:solidFill>
                <a:latin typeface="Helvetica Neue"/>
              </a:rPr>
              <a:t>Hybrid B + C · annual flagship + continuous waves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468880"/>
            <a:ext cx="111858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58605A"/>
                </a:solidFill>
                <a:latin typeface="Helvetica Neue"/>
              </a:rPr>
              <a:t>A 30-day flagship Buildathon (Colosseum model) + 2-3 continuous 14-day waves per year (Akindo model)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971800"/>
            <a:ext cx="1118585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0E1116"/>
                </a:solidFill>
                <a:latin typeface="Helvetica Neue"/>
              </a:rPr>
              <a:t>The 3 models are not mutually exclusive. The market shows that ecosystems producing serious founders combine a flagship event (strong signal, media coverage, deadline that forces delivery) + an ongoing program (continuous activation, permanent onboarding, milestone-based iteration).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200144"/>
            <a:ext cx="1118585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>
                <a:solidFill>
                  <a:srgbClr val="0E1116"/>
                </a:solidFill>
                <a:latin typeface="Helvetica Neue"/>
              </a:rPr>
              <a:t>• Pros: year-round ecosystem activity · robust VC pipeline · deadline-driven + iteration-driven · continuous onboarding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0E1116"/>
                </a:solidFill>
                <a:latin typeface="Helvetica Neue"/>
              </a:rPr>
              <a:t>• Cons: 2 systems to operate (an event + a platform) · requires on-chain infrastructure for waves · more organizational overhead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46520"/>
            <a:ext cx="111858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>
                <a:solidFill>
                  <a:srgbClr val="58605A"/>
                </a:solidFill>
                <a:latin typeface="Helvetica Neue"/>
              </a:rPr>
              <a:t>xrpl-builder.vercel.app/en/buildathon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20095" y="644652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8605A"/>
                </a:solidFill>
                <a:latin typeface="Helvetica Neue"/>
              </a:rPr>
              <a:t>1/12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28600" y="0"/>
            <a:ext cx="11963095" cy="1280160"/>
          </a:xfrm>
          <a:prstGeom prst="rect">
            <a:avLst/>
          </a:prstGeom>
          <a:solidFill>
            <a:srgbClr val="ECE6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58605A"/>
                </a:solidFill>
                <a:latin typeface="Helvetica Neue"/>
              </a:rPr>
              <a:t>SECTION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94360"/>
            <a:ext cx="11185855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E1116"/>
                </a:solidFill>
                <a:latin typeface="Helvetica Neue"/>
              </a:rPr>
              <a:t>Name — what do we call this thing?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55448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E87722"/>
                </a:solidFill>
                <a:latin typeface="Helvetica Neue"/>
              </a:rPr>
              <a:t>RECOMMENDATION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28800"/>
            <a:ext cx="1118585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E1116"/>
                </a:solidFill>
                <a:latin typeface="Helvetica Neue"/>
              </a:rPr>
              <a:t>Buildathon 30x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468880"/>
            <a:ext cx="111858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58605A"/>
                </a:solidFill>
                <a:latin typeface="Helvetica Neue"/>
              </a:rPr>
              <a:t>Tagline: "30 days · to the power of x" — the mechanic is encoded in the name: 30 days × rewards to the power of x (the rest stays open).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971800"/>
            <a:ext cx="1118585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0E1116"/>
                </a:solidFill>
                <a:latin typeface="Helvetica Neue"/>
              </a:rPr>
              <a:t>The name encodes the program duration (30 days) and signals that the reward pool can scale (x = variable power). Marketing gold: no other crypto buildathon brand uses this pattern (Solana=Colosseum, Arbitrum=Open House, Akindo=WaveHack, ETHGlobal=city-based) — open market position. Final communication vote stays with the marketing team.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343400"/>
            <a:ext cx="1118585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>
                <a:solidFill>
                  <a:srgbClr val="0E1116"/>
                </a:solidFill>
                <a:latin typeface="Helvetica Neue"/>
              </a:rPr>
              <a:t>• Pros: punchy, memorable, scalable (next year we can do 30² or 30³ without changing brand); directly encodes the duration (Section 02) and signals a program with amplification potential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0E1116"/>
                </a:solidFill>
                <a:latin typeface="Helvetica Neue"/>
              </a:rPr>
              <a:t>• Cons: doesn't say "XRPL" — needs a sub-tag like "Buildathon 30x · XRPL Commons" for context; minor SEO risk ("30^x" can be read in different ways)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46520"/>
            <a:ext cx="111858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>
                <a:solidFill>
                  <a:srgbClr val="58605A"/>
                </a:solidFill>
                <a:latin typeface="Helvetica Neue"/>
              </a:rPr>
              <a:t>xrpl-builder.vercel.app/en/buildathon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20095" y="644652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8605A"/>
                </a:solidFill>
                <a:latin typeface="Helvetica Neue"/>
              </a:rPr>
              <a:t>2/12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28600" y="0"/>
            <a:ext cx="11963095" cy="1280160"/>
          </a:xfrm>
          <a:prstGeom prst="rect">
            <a:avLst/>
          </a:prstGeom>
          <a:solidFill>
            <a:srgbClr val="ECE6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58605A"/>
                </a:solidFill>
                <a:latin typeface="Helvetica Neue"/>
              </a:rPr>
              <a:t>SECTION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94360"/>
            <a:ext cx="11185855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E1116"/>
                </a:solidFill>
                <a:latin typeface="Helvetica Neue"/>
              </a:rPr>
              <a:t>Format &amp; cadence — how long, what rhythm?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55448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E87722"/>
                </a:solidFill>
                <a:latin typeface="Helvetica Neue"/>
              </a:rPr>
              <a:t>RECOMMENDATION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28800"/>
            <a:ext cx="1118585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E1116"/>
                </a:solidFill>
                <a:latin typeface="Helvetica Neue"/>
              </a:rPr>
              <a:t>30 days · full online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468880"/>
            <a:ext cx="111858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58605A"/>
                </a:solidFill>
                <a:latin typeface="Helvetica Neue"/>
              </a:rPr>
              <a:t>Day 0 kickoff → 28 days build → Day 29 freeze → Day 30 Demo Day. 100% remote.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971800"/>
            <a:ext cx="1118585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0E1116"/>
                </a:solidFill>
                <a:latin typeface="Helvetica Neue"/>
              </a:rPr>
              <a:t>Compact 30-day sprint, fully online. No travel, no in-person logistics — every team competes on equal footing globally. Long enough to ship a credible MVP + working demo (4 weeks of build), short enough to maintain urgency.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017264"/>
            <a:ext cx="1118585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>
                <a:solidFill>
                  <a:srgbClr val="0E1116"/>
                </a:solidFill>
                <a:latin typeface="Helvetica Neue"/>
              </a:rPr>
              <a:t>• Day 0: Kickoff online, presentation and Q&amp;A session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0E1116"/>
                </a:solidFill>
                <a:latin typeface="Helvetica Neue"/>
              </a:rPr>
              <a:t>• Day 1 → Day 28: Build phase — 2 office-hour sessions/week (30min each)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0E1116"/>
                </a:solidFill>
                <a:latin typeface="Helvetica Neue"/>
              </a:rPr>
              <a:t>• Day 29: Pitch deck freeze + Demo freeze — code, deck, video demo all locked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0E1116"/>
                </a:solidFill>
                <a:latin typeface="Helvetica Neue"/>
              </a:rPr>
              <a:t>• Day 30: Demo Day online (livestream) — mandatory gate: project deployed on XRPL mainnet with measurable on-chain activity via SourceTag (volume, transactions, addresses). Jury review · prizes announcement.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46520"/>
            <a:ext cx="111858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>
                <a:solidFill>
                  <a:srgbClr val="58605A"/>
                </a:solidFill>
                <a:latin typeface="Helvetica Neue"/>
              </a:rPr>
              <a:t>xrpl-builder.vercel.app/en/buildathon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20095" y="644652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8605A"/>
                </a:solidFill>
                <a:latin typeface="Helvetica Neue"/>
              </a:rPr>
              <a:t>3/12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28600" y="0"/>
            <a:ext cx="11963095" cy="1280160"/>
          </a:xfrm>
          <a:prstGeom prst="rect">
            <a:avLst/>
          </a:prstGeom>
          <a:solidFill>
            <a:srgbClr val="ECE6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58605A"/>
                </a:solidFill>
                <a:latin typeface="Helvetica Neue"/>
              </a:rPr>
              <a:t>SECTION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94360"/>
            <a:ext cx="11185855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E1116"/>
                </a:solidFill>
                <a:latin typeface="Helvetica Neue"/>
              </a:rPr>
              <a:t>Timing — when does it happen?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55448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E87722"/>
                </a:solidFill>
                <a:latin typeface="Helvetica Neue"/>
              </a:rPr>
              <a:t>RECOMMENDATION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28800"/>
            <a:ext cx="1118585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E1116"/>
                </a:solidFill>
                <a:latin typeface="Helvetica Neue"/>
              </a:rPr>
              <a:t>Wed 17 June → Fri 17 July 2026 · 30 days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468880"/>
            <a:ext cx="111858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58605A"/>
                </a:solidFill>
                <a:latin typeface="Helvetica Neue"/>
              </a:rPr>
              <a:t>Kickoff Wed 17 June, Demo Day Fri 17 July — exactly 30 days, fully online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971800"/>
            <a:ext cx="1118585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0E1116"/>
                </a:solidFill>
                <a:latin typeface="Helvetica Neue"/>
              </a:rPr>
              <a:t>Ships BEFORE the August summer break (builders deliver with code in hand). Aligns with XLS-66 going mainnet (lending live summer 2026). Post-PWG energy (April 2026) still fresh.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46520"/>
            <a:ext cx="111858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>
                <a:solidFill>
                  <a:srgbClr val="58605A"/>
                </a:solidFill>
                <a:latin typeface="Helvetica Neue"/>
              </a:rPr>
              <a:t>xrpl-builder.vercel.app/en/buildathon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20095" y="644652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8605A"/>
                </a:solidFill>
                <a:latin typeface="Helvetica Neue"/>
              </a:rPr>
              <a:t>4/12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28600" y="0"/>
            <a:ext cx="11963095" cy="1280160"/>
          </a:xfrm>
          <a:prstGeom prst="rect">
            <a:avLst/>
          </a:prstGeom>
          <a:solidFill>
            <a:srgbClr val="ECE6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58605A"/>
                </a:solidFill>
                <a:latin typeface="Helvetica Neue"/>
              </a:rPr>
              <a:t>SECTION 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94360"/>
            <a:ext cx="11185855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E1116"/>
                </a:solidFill>
                <a:latin typeface="Helvetica Neue"/>
              </a:rPr>
              <a:t>Challenge register — what can teams build?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55448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E87722"/>
                </a:solidFill>
                <a:latin typeface="Helvetica Neue"/>
              </a:rPr>
              <a:t>RECOMMENDATION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28800"/>
            <a:ext cx="1118585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E1116"/>
                </a:solidFill>
                <a:latin typeface="Helvetica Neue"/>
              </a:rPr>
              <a:t>Registry /opportunities — 39 APP opportunities, 7 themes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468880"/>
            <a:ext cx="111858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58605A"/>
                </a:solidFill>
                <a:latin typeface="Helvetica Neue"/>
              </a:rPr>
              <a:t>The Buildathon challenge register = the APP subset of the unified registry /opportunities (single source of truth · convergence PWG + ATKA + ECO + YC + interviews). The 24 TOOL opps (libraries, primitives, SDKs) are out of scope for the Buildathon — intended for existing teams / core contributors.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971800"/>
            <a:ext cx="1118585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0E1116"/>
                </a:solidFill>
                <a:latin typeface="Helvetica Neue"/>
              </a:rPr>
              <a:t>The OPPs in the registry are identified opportunities — ideas where we believe a potential need exists (converging signals from PWG + ATKA + ecosystem + YC + founder interviews). They are in no way a restrictive framework. All XRPL projects are allowed and welcome — whether they map to an OPP, combine several, or propose something completely different. The registry is a starting point for builders looking for inspiration, not a mandatory checklist.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343400"/>
            <a:ext cx="1118585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>
                <a:solidFill>
                  <a:srgbClr val="0E1116"/>
                </a:solidFill>
                <a:latin typeface="Helvetica Neue"/>
              </a:rPr>
              <a:t>• Tier HIGH (×7 APP challenges) → Grand Prix Bracket. The highest-impact user-facing opps: OPP-017 · B2B Stablecoin FX desk / corridor (b2b)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0E1116"/>
                </a:solidFill>
                <a:latin typeface="Helvetica Neue"/>
              </a:rPr>
              <a:t>• OPP-030 · Lending Protocol on EVM Sidechain (Morpho-style) (defi)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0E1116"/>
                </a:solidFill>
                <a:latin typeface="Helvetica Neue"/>
              </a:rPr>
              <a:t>• OPP-034 · Lending front-end on Single Asset Vault (pre-XLS-66) (defi)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0E1116"/>
                </a:solidFill>
                <a:latin typeface="Helvetica Neue"/>
              </a:rPr>
              <a:t>• OPP-025 · Compliance-native consumer payments (Wise-on-XRPL) (rwat)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0E1116"/>
                </a:solidFill>
                <a:latin typeface="Helvetica Neue"/>
              </a:rPr>
              <a:t>• OPP-036 · Restaking Protocol for XRP (Babylon-fork) (defi)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46520"/>
            <a:ext cx="111858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>
                <a:solidFill>
                  <a:srgbClr val="58605A"/>
                </a:solidFill>
                <a:latin typeface="Helvetica Neue"/>
              </a:rPr>
              <a:t>xrpl-builder.vercel.app/en/buildathon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20095" y="644652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8605A"/>
                </a:solidFill>
                <a:latin typeface="Helvetica Neue"/>
              </a:rPr>
              <a:t>5/12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28600" y="0"/>
            <a:ext cx="11963095" cy="1280160"/>
          </a:xfrm>
          <a:prstGeom prst="rect">
            <a:avLst/>
          </a:prstGeom>
          <a:solidFill>
            <a:srgbClr val="ECE6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58605A"/>
                </a:solidFill>
                <a:latin typeface="Helvetica Neue"/>
              </a:rPr>
              <a:t>SECTION 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94360"/>
            <a:ext cx="11185855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E1116"/>
                </a:solidFill>
                <a:latin typeface="Helvetica Neue"/>
              </a:rPr>
              <a:t>Prizes — what do winners get?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55448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E87722"/>
                </a:solidFill>
                <a:latin typeface="Helvetica Neue"/>
              </a:rPr>
              <a:t>RECOMMENDATION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28800"/>
            <a:ext cx="1118585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E1116"/>
                </a:solidFill>
                <a:latin typeface="Helvetica Neue"/>
              </a:rPr>
              <a:t>Pool $100k · Hybrid milestone-grants + small prizes + Aquarium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468880"/>
            <a:ext cx="111858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58605A"/>
                </a:solidFill>
                <a:latin typeface="Helvetica Neue"/>
              </a:rPr>
              <a:t>2026 annual dedicated budget — $100k structured in 3 brackets: $50k in major milestone-grants ($10k × 5) + $50k in small prizes (€500 × up to 100 projects) + Aquarium access for 1st place.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971800"/>
            <a:ext cx="1118585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0E1116"/>
                </a:solidFill>
                <a:latin typeface="Helvetica Neue"/>
              </a:rPr>
              <a:t>Filters out polished demos, rewards real traction (mainnet + users + volume). Inspired by the "RFS + live traction" model (Florence interview).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773424"/>
            <a:ext cx="1118585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>
                <a:solidFill>
                  <a:srgbClr val="0E1116"/>
                </a:solidFill>
                <a:latin typeface="Helvetica Neue"/>
              </a:rPr>
              <a:t>• Project deployed on XRPL mainnet by day 30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0E1116"/>
                </a:solidFill>
                <a:latin typeface="Helvetica Neue"/>
              </a:rPr>
              <a:t>• Measurable on-chain activity by day 30 via SourceTag: volume · transactions · unique addresses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46520"/>
            <a:ext cx="111858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>
                <a:solidFill>
                  <a:srgbClr val="58605A"/>
                </a:solidFill>
                <a:latin typeface="Helvetica Neue"/>
              </a:rPr>
              <a:t>xrpl-builder.vercel.app/en/buildathon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20095" y="644652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8605A"/>
                </a:solidFill>
                <a:latin typeface="Helvetica Neue"/>
              </a:rPr>
              <a:t>6/12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28600" y="0"/>
            <a:ext cx="11963095" cy="1280160"/>
          </a:xfrm>
          <a:prstGeom prst="rect">
            <a:avLst/>
          </a:prstGeom>
          <a:solidFill>
            <a:srgbClr val="ECE6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58605A"/>
                </a:solidFill>
                <a:latin typeface="Helvetica Neue"/>
              </a:rPr>
              <a:t>SECTION 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94360"/>
            <a:ext cx="11185855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E1116"/>
                </a:solidFill>
                <a:latin typeface="Helvetica Neue"/>
              </a:rPr>
              <a:t>Jury composition — who decides?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55448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E87722"/>
                </a:solidFill>
                <a:latin typeface="Helvetica Neue"/>
              </a:rPr>
              <a:t>RECOMMENDATION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28800"/>
            <a:ext cx="1118585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E1116"/>
                </a:solidFill>
                <a:latin typeface="Helvetica Neue"/>
              </a:rPr>
              <a:t>XRPL Commons (only)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468880"/>
            <a:ext cx="111858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58605A"/>
                </a:solidFill>
                <a:latin typeface="Helvetica Neue"/>
              </a:rPr>
              <a:t>Single-organization jury — clean ownership, fast decisions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971800"/>
            <a:ext cx="1118585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0E1116"/>
                </a:solidFill>
                <a:latin typeface="Helvetica Neue"/>
              </a:rPr>
              <a:t>XRPL Commons runs the jury alone. Knows the builders, knows the Atlas roadmap, owns the program quality. No coordination overhead, no scheduling nightmare, clear accountability if a result is contested.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953256"/>
            <a:ext cx="1118585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>
                <a:solidFill>
                  <a:srgbClr val="0E1116"/>
                </a:solidFill>
                <a:latin typeface="Helvetica Neue"/>
              </a:rPr>
              <a:t>• Pros: simple, fast, clear ownership, no scheduling friction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0E1116"/>
                </a:solidFill>
                <a:latin typeface="Helvetica Neue"/>
              </a:rPr>
              <a:t>• Cons: no external advocacy/accountability balance — risk of being seen as too internal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46520"/>
            <a:ext cx="111858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>
                <a:solidFill>
                  <a:srgbClr val="58605A"/>
                </a:solidFill>
                <a:latin typeface="Helvetica Neue"/>
              </a:rPr>
              <a:t>xrpl-builder.vercel.app/en/buildathon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20095" y="644652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8605A"/>
                </a:solidFill>
                <a:latin typeface="Helvetica Neue"/>
              </a:rPr>
              <a:t>7/12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28600" y="0"/>
            <a:ext cx="11963095" cy="1280160"/>
          </a:xfrm>
          <a:prstGeom prst="rect">
            <a:avLst/>
          </a:prstGeom>
          <a:solidFill>
            <a:srgbClr val="ECE6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58605A"/>
                </a:solidFill>
                <a:latin typeface="Helvetica Neue"/>
              </a:rPr>
              <a:t>SECTION 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94360"/>
            <a:ext cx="11185855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E1116"/>
                </a:solidFill>
                <a:latin typeface="Helvetica Neue"/>
              </a:rPr>
              <a:t>Judging criteria — how is "winning" measured?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55448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E87722"/>
                </a:solidFill>
                <a:latin typeface="Helvetica Neue"/>
              </a:rPr>
              <a:t>RECOMMENDATION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28800"/>
            <a:ext cx="1118585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E1116"/>
                </a:solidFill>
                <a:latin typeface="Helvetica Neue"/>
              </a:rPr>
              <a:t>2-step judging — Binary gate, then bracket-specific scoring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468880"/>
            <a:ext cx="111858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58605A"/>
                </a:solidFill>
                <a:latin typeface="Helvetica Neue"/>
              </a:rPr>
              <a:t>Criteria apply differently depending on the prize bracket (small prizes vs major milestone-grants). All published to candidates upfront.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971800"/>
            <a:ext cx="1118585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0E1116"/>
                </a:solidFill>
                <a:latin typeface="Helvetica Neue"/>
              </a:rPr>
              <a:t>All-or-nothing criteria by Day 30. Without these 2 conditions, no prize is awarded (cf. Section 05):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642360"/>
            <a:ext cx="1118585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>
                <a:solidFill>
                  <a:srgbClr val="0E1116"/>
                </a:solidFill>
                <a:latin typeface="Helvetica Neue"/>
              </a:rPr>
              <a:t>• Mainnet deployment — project deployed and accessible on XRPL mainnet, source code published (or justified if proprietary)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0E1116"/>
                </a:solidFill>
                <a:latin typeface="Helvetica Neue"/>
              </a:rPr>
              <a:t>• Measurable on-chain activity via SourceTag — at least 1 real transaction attributable to the project via SourceTag, verifiable by the jury on XRPL explorer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46520"/>
            <a:ext cx="111858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>
                <a:solidFill>
                  <a:srgbClr val="58605A"/>
                </a:solidFill>
                <a:latin typeface="Helvetica Neue"/>
              </a:rPr>
              <a:t>xrpl-builder.vercel.app/en/buildathon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20095" y="644652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8605A"/>
                </a:solidFill>
                <a:latin typeface="Helvetica Neue"/>
              </a:rPr>
              <a:t>8/12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28600" y="0"/>
            <a:ext cx="11963095" cy="1280160"/>
          </a:xfrm>
          <a:prstGeom prst="rect">
            <a:avLst/>
          </a:prstGeom>
          <a:solidFill>
            <a:srgbClr val="ECE6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58605A"/>
                </a:solidFill>
                <a:latin typeface="Helvetica Neue"/>
              </a:rPr>
              <a:t>SECTION 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94360"/>
            <a:ext cx="11185855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E1116"/>
                </a:solidFill>
                <a:latin typeface="Helvetica Neue"/>
              </a:rPr>
              <a:t>Team composition — size &amp; profile?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55448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E87722"/>
                </a:solidFill>
                <a:latin typeface="Helvetica Neue"/>
              </a:rPr>
              <a:t>RECOMMENDATION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28800"/>
            <a:ext cx="1118585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E1116"/>
                </a:solidFill>
                <a:latin typeface="Helvetica Neue"/>
              </a:rPr>
              <a:t>Solo or team — no min, no max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468880"/>
            <a:ext cx="111858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58605A"/>
                </a:solidFill>
                <a:latin typeface="Helvetica Neue"/>
              </a:rPr>
              <a:t>Maximum accessibility — anyone can apply, alone or with cofounders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971800"/>
            <a:ext cx="1118585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>
                <a:solidFill>
                  <a:srgbClr val="0E1116"/>
                </a:solidFill>
                <a:latin typeface="Helvetica Neue"/>
              </a:rPr>
              <a:t>• No minimum — solo applicants are welcome and eligible for all prize tiers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0E1116"/>
                </a:solidFill>
                <a:latin typeface="Helvetica Neue"/>
              </a:rPr>
              <a:t>• No maximum — teams of any size can apply (but jury weights individual contribution clarity in scoring)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0E1116"/>
                </a:solidFill>
                <a:latin typeface="Helvetica Neue"/>
              </a:rPr>
              <a:t>• Geographic diversity encouraged — fully online format means anyone, anywhere can compete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0E1116"/>
                </a:solidFill>
                <a:latin typeface="Helvetica Neue"/>
              </a:rPr>
              <a:t>• Aquarium / Hackathon alumni are eligible for the dedicated "From the community" prize (€500)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46520"/>
            <a:ext cx="111858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>
                <a:solidFill>
                  <a:srgbClr val="58605A"/>
                </a:solidFill>
                <a:latin typeface="Helvetica Neue"/>
              </a:rPr>
              <a:t>xrpl-builder.vercel.app/en/buildathon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20095" y="644652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8605A"/>
                </a:solidFill>
                <a:latin typeface="Helvetica Neue"/>
              </a:rPr>
              <a:t>9/12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28600" y="0"/>
            <a:ext cx="11963095" cy="1280160"/>
          </a:xfrm>
          <a:prstGeom prst="rect">
            <a:avLst/>
          </a:prstGeom>
          <a:solidFill>
            <a:srgbClr val="ECE6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58605A"/>
                </a:solidFill>
                <a:latin typeface="Helvetica Neue"/>
              </a:rPr>
              <a:t>SECTION 09 · NEW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94360"/>
            <a:ext cx="11185855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E1116"/>
                </a:solidFill>
                <a:latin typeface="Helvetica Neue"/>
              </a:rPr>
              <a:t>Office Hours — team support during the build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55448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E87722"/>
                </a:solidFill>
                <a:latin typeface="Helvetica Neue"/>
              </a:rPr>
              <a:t>RECOMMENDATION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28800"/>
            <a:ext cx="1118585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E1116"/>
                </a:solidFill>
                <a:latin typeface="Helvetica Neue"/>
              </a:rPr>
              <a:t>Weekly "ship + visibility" cadence + 2 fixed slots + 1 IRL day at the Commons House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468880"/>
            <a:ext cx="111858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58605A"/>
                </a:solidFill>
                <a:latin typeface="Helvetica Neue"/>
              </a:rPr>
              <a:t>During the 4-week build phase (Day 1 → Day 28, 18 Jun → 15 Jul)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971800"/>
            <a:ext cx="1118585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0E1116"/>
                </a:solidFill>
                <a:latin typeface="Helvetica Neue"/>
              </a:rPr>
              <a:t>🚢 Weekly Ship Cadence (Guillaume)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438144"/>
            <a:ext cx="1118585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>
                <a:solidFill>
                  <a:srgbClr val="0E1116"/>
                </a:solidFill>
                <a:latin typeface="Helvetica Neue"/>
              </a:rPr>
              <a:t>• Each team ships every week: (1) short video (60-120s) of progress · (2) single-slide deck · (3) user feedback on socials (X post with connected wallet + XRP profile for traceability)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0E1116"/>
                </a:solidFill>
                <a:latin typeface="Helvetica Neue"/>
              </a:rPr>
              <a:t>• XRPL Commons amplifies: weekly push of the top 5 or 10 on its channels + single public link to view all submissions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0E1116"/>
                </a:solidFill>
                <a:latin typeface="Helvetica Neue"/>
              </a:rPr>
              <a:t>• Merch reward for the best comments / feedback received by each team (qualified-feedback verification: connected wallet, active XRP profile, no bots)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46520"/>
            <a:ext cx="111858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>
                <a:solidFill>
                  <a:srgbClr val="58605A"/>
                </a:solidFill>
                <a:latin typeface="Helvetica Neue"/>
              </a:rPr>
              <a:t>xrpl-builder.vercel.app/en/buildathon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20095" y="644652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8605A"/>
                </a:solidFill>
                <a:latin typeface="Helvetica Neue"/>
              </a:rPr>
              <a:t>10/12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28600" y="0"/>
            <a:ext cx="11963095" cy="1280160"/>
          </a:xfrm>
          <a:prstGeom prst="rect">
            <a:avLst/>
          </a:prstGeom>
          <a:solidFill>
            <a:srgbClr val="ECE6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58605A"/>
                </a:solidFill>
                <a:latin typeface="Helvetica Neue"/>
              </a:rPr>
              <a:t>SECTION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94360"/>
            <a:ext cx="11185855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E1116"/>
                </a:solidFill>
                <a:latin typeface="Helvetica Neue"/>
              </a:rPr>
              <a:t>🌐 Inspiration — market benchmark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55448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E87722"/>
                </a:solidFill>
                <a:latin typeface="Helvetica Neue"/>
              </a:rPr>
              <a:t>RECOMMENDATION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28800"/>
            <a:ext cx="1118585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E1116"/>
                </a:solidFill>
                <a:latin typeface="Helvetica Neue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468880"/>
            <a:ext cx="1118585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0E1116"/>
                </a:solidFill>
                <a:latin typeface="Helvetica Neue"/>
              </a:rPr>
              <a:t>Research conducted May 2026. 4 main models analyzed (Solana Colosseum, ETHGlobal, Anthropic AI hackathons, Akindo/WaveHack) + 1 generic platform (Lablab.ai). Public sources.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361944"/>
            <a:ext cx="1118585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>
                <a:solidFill>
                  <a:srgbClr val="0E1116"/>
                </a:solidFill>
                <a:latin typeface="Helvetica Neue"/>
              </a:rPr>
              <a:t>• Too short (24-48h) → superficial projects, no follow-up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0E1116"/>
                </a:solidFill>
                <a:latin typeface="Helvetica Neue"/>
              </a:rPr>
              <a:t>• Too open (accept-all) → noise, overwhelmed mentors, diluted quality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0E1116"/>
                </a:solidFill>
                <a:latin typeface="Helvetica Neue"/>
              </a:rPr>
              <a:t>• 100% cash, no accelerator → winners disappear after the check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0E1116"/>
                </a:solidFill>
                <a:latin typeface="Helvetica Neue"/>
              </a:rPr>
              <a:t>• No challenge guide → random projects not aligned with real gaps (XRPL Builder avoids this thanks to /opportunities)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0E1116"/>
                </a:solidFill>
                <a:latin typeface="Helvetica Neue"/>
              </a:rPr>
              <a:t>• IRL only → entry barrier for non-US/Europe devs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46520"/>
            <a:ext cx="111858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>
                <a:solidFill>
                  <a:srgbClr val="58605A"/>
                </a:solidFill>
                <a:latin typeface="Helvetica Neue"/>
              </a:rPr>
              <a:t>xrpl-builder.vercel.app/en/buildathon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20095" y="644652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8605A"/>
                </a:solidFill>
                <a:latin typeface="Helvetica Neue"/>
              </a:rPr>
              <a:t>11/12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28600" y="0"/>
            <a:ext cx="11963095" cy="1280160"/>
          </a:xfrm>
          <a:prstGeom prst="rect">
            <a:avLst/>
          </a:prstGeom>
          <a:solidFill>
            <a:srgbClr val="ECE6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58605A"/>
                </a:solidFill>
                <a:latin typeface="Helvetica Neue"/>
              </a:rPr>
              <a:t>SECTION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94360"/>
            <a:ext cx="11185855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E1116"/>
                </a:solidFill>
                <a:latin typeface="Helvetica Neue"/>
              </a:rPr>
              <a:t>🎯 Final variants — committee choice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55448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E87722"/>
                </a:solidFill>
                <a:latin typeface="Helvetica Neue"/>
              </a:rPr>
              <a:t>RECOMMENDATION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28800"/>
            <a:ext cx="1118585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E1116"/>
                </a:solidFill>
                <a:latin typeface="Helvetica Neue"/>
              </a:rPr>
              <a:t>Variant 1 · Buildathon 30x · Hybrid milestone-grants + XRPL Commons journey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468880"/>
            <a:ext cx="111858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58605A"/>
                </a:solidFill>
                <a:latin typeface="Helvetica Neue"/>
              </a:rPr>
              <a:t>Simple format, $100k annual pool, milestone-based, integrated in the Academy → Aquarium → Startup Studio journey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971800"/>
            <a:ext cx="1118585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0E1116"/>
                </a:solidFill>
                <a:latin typeface="Helvetica Neue"/>
              </a:rPr>
              <a:t>Format: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358896"/>
            <a:ext cx="1118585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>
                <a:solidFill>
                  <a:srgbClr val="0E1116"/>
                </a:solidFill>
                <a:latin typeface="Helvetica Neue"/>
              </a:rPr>
              <a:t>• 30-day online Buildathon · open (no curated selection) · target a few hundred → ~1000 users on mainnet per project · mandatory live-traction gate (mainnet deployed + measurable on-chain activity via SourceTag by day…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0E1116"/>
                </a:solidFill>
                <a:latin typeface="Helvetica Neue"/>
              </a:rPr>
              <a:t>• $100k pool · hybrid structure (cf. Section 05): 5 major prizes × $10k milestone-based ($3k upfront + $3k M1 + $4k M2) = $50k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0E1116"/>
                </a:solidFill>
                <a:latin typeface="Helvetica Neue"/>
              </a:rPr>
              <a:t>• Up to 100 small prizes × €500 = $50k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0E1116"/>
                </a:solidFill>
                <a:latin typeface="Helvetica Neue"/>
              </a:rPr>
              <a:t>• Aquarium access (perk) for the 1st major prize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46520"/>
            <a:ext cx="111858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>
                <a:solidFill>
                  <a:srgbClr val="58605A"/>
                </a:solidFill>
                <a:latin typeface="Helvetica Neue"/>
              </a:rPr>
              <a:t>xrpl-builder.vercel.app/en/buildathon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20095" y="644652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8605A"/>
                </a:solidFill>
                <a:latin typeface="Helvetica Neue"/>
              </a:rPr>
              <a:t>12/12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