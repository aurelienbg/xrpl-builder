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0"/>
          </a:xfrm>
          <a:prstGeom prst="rect">
            <a:avLst/>
          </a:prstGeom>
          <a:solidFill>
            <a:srgbClr val="0E11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73152"/>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94415" cy="365760"/>
          </a:xfrm>
          <a:prstGeom prst="rect">
            <a:avLst/>
          </a:prstGeom>
          <a:noFill/>
        </p:spPr>
        <p:txBody>
          <a:bodyPr wrap="none">
            <a:spAutoFit/>
          </a:bodyPr>
          <a:lstStyle/>
          <a:p>
            <a:r>
              <a:rPr sz="1200" b="1">
                <a:solidFill>
                  <a:srgbClr val="D4A017"/>
                </a:solidFill>
                <a:latin typeface="Helvetica Neue"/>
              </a:rPr>
              <a:t>XRPL BUILDER · BUILDATHON PROPOSAL · v0.1</a:t>
            </a:r>
          </a:p>
        </p:txBody>
      </p:sp>
      <p:sp>
        <p:nvSpPr>
          <p:cNvPr id="5" name="TextBox 4"/>
          <p:cNvSpPr txBox="1"/>
          <p:nvPr/>
        </p:nvSpPr>
        <p:spPr>
          <a:xfrm>
            <a:off x="548640" y="914400"/>
            <a:ext cx="11094415" cy="1097280"/>
          </a:xfrm>
          <a:prstGeom prst="rect">
            <a:avLst/>
          </a:prstGeom>
          <a:noFill/>
        </p:spPr>
        <p:txBody>
          <a:bodyPr wrap="none">
            <a:spAutoFit/>
          </a:bodyPr>
          <a:lstStyle/>
          <a:p>
            <a:r>
              <a:rPr sz="4400" b="1">
                <a:solidFill>
                  <a:srgbClr val="F4EFE6"/>
                </a:solidFill>
                <a:latin typeface="Helvetica Neue"/>
              </a:rPr>
              <a:t>Buildathon XRPL Commons</a:t>
            </a:r>
          </a:p>
        </p:txBody>
      </p:sp>
      <p:sp>
        <p:nvSpPr>
          <p:cNvPr id="6" name="TextBox 5"/>
          <p:cNvSpPr txBox="1"/>
          <p:nvPr/>
        </p:nvSpPr>
        <p:spPr>
          <a:xfrm>
            <a:off x="548640" y="1783080"/>
            <a:ext cx="11094415" cy="457200"/>
          </a:xfrm>
          <a:prstGeom prst="rect">
            <a:avLst/>
          </a:prstGeom>
          <a:noFill/>
        </p:spPr>
        <p:txBody>
          <a:bodyPr wrap="none">
            <a:spAutoFit/>
          </a:bodyPr>
          <a:lstStyle/>
          <a:p>
            <a:r>
              <a:rPr sz="1800" b="0">
                <a:solidFill>
                  <a:srgbClr val="F4EFE6"/>
                </a:solidFill>
                <a:latin typeface="Helvetica Neue"/>
              </a:rPr>
              <a:t>Recommendations summary · 12 sections</a:t>
            </a:r>
          </a:p>
        </p:txBody>
      </p:sp>
      <p:sp>
        <p:nvSpPr>
          <p:cNvPr id="7" name="TextBox 6"/>
          <p:cNvSpPr txBox="1"/>
          <p:nvPr/>
        </p:nvSpPr>
        <p:spPr>
          <a:xfrm>
            <a:off x="548640" y="2743200"/>
            <a:ext cx="11094415" cy="3200400"/>
          </a:xfrm>
          <a:prstGeom prst="rect">
            <a:avLst/>
          </a:prstGeom>
          <a:noFill/>
        </p:spPr>
        <p:txBody>
          <a:bodyPr wrap="square">
            <a:spAutoFit/>
          </a:bodyPr>
          <a:lstStyle/>
          <a:p>
            <a:r>
              <a:rPr sz="1400" b="0">
                <a:solidFill>
                  <a:srgbClr val="58605A"/>
                </a:solidFill>
                <a:latin typeface="Helvetica Neue"/>
              </a:rPr>
              <a:t>One slide per section. The main proposal (recommendation), not the alternatives.</a:t>
            </a:r>
          </a:p>
          <a:p>
            <a:r>
              <a:rPr sz="800" b="0">
                <a:latin typeface="Helvetica Neue"/>
              </a:rPr>
              <a:t/>
            </a:r>
          </a:p>
          <a:p>
            <a:r>
              <a:rPr sz="1400" b="1">
                <a:solidFill>
                  <a:srgbClr val="0E1116"/>
                </a:solidFill>
                <a:latin typeface="Helvetica Neue"/>
              </a:rPr>
              <a:t>Sections covered:</a:t>
            </a:r>
          </a:p>
          <a:p>
            <a:r>
              <a:rPr sz="1200" b="0">
                <a:solidFill>
                  <a:srgbClr val="0E1116"/>
                </a:solidFill>
                <a:latin typeface="Helvetica Neue"/>
              </a:rPr>
              <a:t>  • 00 · Strategic synthesis — 4 models to arbitrate</a:t>
            </a:r>
          </a:p>
          <a:p>
            <a:r>
              <a:rPr sz="1200" b="0">
                <a:solidFill>
                  <a:srgbClr val="0E1116"/>
                </a:solidFill>
                <a:latin typeface="Helvetica Neue"/>
              </a:rPr>
              <a:t>  • 01 · Name · 02 · Format &amp; cadence · 03 · Timing</a:t>
            </a:r>
          </a:p>
          <a:p>
            <a:r>
              <a:rPr sz="1200" b="0">
                <a:solidFill>
                  <a:srgbClr val="0E1116"/>
                </a:solidFill>
                <a:latin typeface="Helvetica Neue"/>
              </a:rPr>
              <a:t>  • 04 · Challenge register · 05 · Prizes</a:t>
            </a:r>
          </a:p>
          <a:p>
            <a:r>
              <a:rPr sz="1200" b="0">
                <a:solidFill>
                  <a:srgbClr val="0E1116"/>
                </a:solidFill>
                <a:latin typeface="Helvetica Neue"/>
              </a:rPr>
              <a:t>  • 06 · Jury composition · 07 · Criteria · 08 · Teams</a:t>
            </a:r>
          </a:p>
          <a:p>
            <a:r>
              <a:rPr sz="1200" b="0">
                <a:solidFill>
                  <a:srgbClr val="0E1116"/>
                </a:solidFill>
                <a:latin typeface="Helvetica Neue"/>
              </a:rPr>
              <a:t>  • 09 · Office Hours · 11 · Inspiration · 12 · Final variants</a:t>
            </a:r>
          </a:p>
        </p:txBody>
      </p:sp>
      <p:sp>
        <p:nvSpPr>
          <p:cNvPr id="8" name="TextBox 7"/>
          <p:cNvSpPr txBox="1"/>
          <p:nvPr/>
        </p:nvSpPr>
        <p:spPr>
          <a:xfrm>
            <a:off x="548640" y="6400800"/>
            <a:ext cx="11094415" cy="274320"/>
          </a:xfrm>
          <a:prstGeom prst="rect">
            <a:avLst/>
          </a:prstGeom>
          <a:noFill/>
        </p:spPr>
        <p:txBody>
          <a:bodyPr wrap="none">
            <a:spAutoFit/>
          </a:bodyPr>
          <a:lstStyle/>
          <a:p>
            <a:r>
              <a:rPr sz="1000" b="0">
                <a:solidFill>
                  <a:srgbClr val="58605A"/>
                </a:solidFill>
                <a:latin typeface="Helvetica Neue"/>
              </a:rPr>
              <a:t>Source: xrpl-builder.vercel.app/en/buildathon  ·  XRPL Commons committee  ·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0"/>
            <a:ext cx="11963095" cy="1280160"/>
          </a:xfrm>
          <a:prstGeom prst="rect">
            <a:avLst/>
          </a:prstGeom>
          <a:solidFill>
            <a:srgbClr val="EC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2743200" cy="365760"/>
          </a:xfrm>
          <a:prstGeom prst="rect">
            <a:avLst/>
          </a:prstGeom>
          <a:noFill/>
        </p:spPr>
        <p:txBody>
          <a:bodyPr wrap="none">
            <a:spAutoFit/>
          </a:bodyPr>
          <a:lstStyle/>
          <a:p>
            <a:r>
              <a:rPr sz="1100" b="1">
                <a:solidFill>
                  <a:srgbClr val="58605A"/>
                </a:solidFill>
                <a:latin typeface="Helvetica Neue"/>
              </a:rPr>
              <a:t>SECTION 00</a:t>
            </a:r>
          </a:p>
        </p:txBody>
      </p:sp>
      <p:sp>
        <p:nvSpPr>
          <p:cNvPr id="5" name="TextBox 4"/>
          <p:cNvSpPr txBox="1"/>
          <p:nvPr/>
        </p:nvSpPr>
        <p:spPr>
          <a:xfrm>
            <a:off x="502920" y="594360"/>
            <a:ext cx="11185855" cy="685800"/>
          </a:xfrm>
          <a:prstGeom prst="rect">
            <a:avLst/>
          </a:prstGeom>
          <a:noFill/>
        </p:spPr>
        <p:txBody>
          <a:bodyPr wrap="none">
            <a:spAutoFit/>
          </a:bodyPr>
          <a:lstStyle/>
          <a:p>
            <a:r>
              <a:rPr sz="2600" b="1">
                <a:solidFill>
                  <a:srgbClr val="0E1116"/>
                </a:solidFill>
                <a:latin typeface="Helvetica Neue"/>
              </a:rPr>
              <a:t>Strategic synthesis — 3 models to arbitrate</a:t>
            </a:r>
          </a:p>
        </p:txBody>
      </p:sp>
      <p:sp>
        <p:nvSpPr>
          <p:cNvPr id="6" name="TextBox 5"/>
          <p:cNvSpPr txBox="1"/>
          <p:nvPr/>
        </p:nvSpPr>
        <p:spPr>
          <a:xfrm>
            <a:off x="502920" y="1554480"/>
            <a:ext cx="2743200" cy="365760"/>
          </a:xfrm>
          <a:prstGeom prst="rect">
            <a:avLst/>
          </a:prstGeom>
          <a:noFill/>
        </p:spPr>
        <p:txBody>
          <a:bodyPr wrap="none">
            <a:spAutoFit/>
          </a:bodyPr>
          <a:lstStyle/>
          <a:p>
            <a:r>
              <a:rPr sz="1100" b="1">
                <a:solidFill>
                  <a:srgbClr val="E87722"/>
                </a:solidFill>
                <a:latin typeface="Helvetica Neue"/>
              </a:rPr>
              <a:t>RECOMMENDATION</a:t>
            </a:r>
          </a:p>
        </p:txBody>
      </p:sp>
      <p:sp>
        <p:nvSpPr>
          <p:cNvPr id="7" name="TextBox 6"/>
          <p:cNvSpPr txBox="1"/>
          <p:nvPr/>
        </p:nvSpPr>
        <p:spPr>
          <a:xfrm>
            <a:off x="502920" y="1828800"/>
            <a:ext cx="11185855" cy="640080"/>
          </a:xfrm>
          <a:prstGeom prst="rect">
            <a:avLst/>
          </a:prstGeom>
          <a:noFill/>
        </p:spPr>
        <p:txBody>
          <a:bodyPr wrap="none">
            <a:spAutoFit/>
          </a:bodyPr>
          <a:lstStyle/>
          <a:p>
            <a:r>
              <a:rPr sz="2200" b="1">
                <a:solidFill>
                  <a:srgbClr val="0E1116"/>
                </a:solidFill>
                <a:latin typeface="Helvetica Neue"/>
              </a:rPr>
              <a:t>Hybrid B + C · annual flagship + continuous waves</a:t>
            </a:r>
          </a:p>
        </p:txBody>
      </p:sp>
      <p:sp>
        <p:nvSpPr>
          <p:cNvPr id="8" name="TextBox 7"/>
          <p:cNvSpPr txBox="1"/>
          <p:nvPr/>
        </p:nvSpPr>
        <p:spPr>
          <a:xfrm>
            <a:off x="502920" y="2468880"/>
            <a:ext cx="11185855" cy="457200"/>
          </a:xfrm>
          <a:prstGeom prst="rect">
            <a:avLst/>
          </a:prstGeom>
          <a:noFill/>
        </p:spPr>
        <p:txBody>
          <a:bodyPr wrap="none">
            <a:spAutoFit/>
          </a:bodyPr>
          <a:lstStyle/>
          <a:p>
            <a:r>
              <a:rPr sz="1400" b="0">
                <a:solidFill>
                  <a:srgbClr val="58605A"/>
                </a:solidFill>
                <a:latin typeface="Helvetica Neue"/>
              </a:rPr>
              <a:t>A 30-day flagship Buildathon (Colosseum model) + 2-3 continuous 14-day waves per year (Akindo model)</a:t>
            </a:r>
          </a:p>
        </p:txBody>
      </p:sp>
      <p:sp>
        <p:nvSpPr>
          <p:cNvPr id="9" name="TextBox 8"/>
          <p:cNvSpPr txBox="1"/>
          <p:nvPr/>
        </p:nvSpPr>
        <p:spPr>
          <a:xfrm>
            <a:off x="502920" y="2971800"/>
            <a:ext cx="11185855" cy="1371600"/>
          </a:xfrm>
          <a:prstGeom prst="rect">
            <a:avLst/>
          </a:prstGeom>
          <a:noFill/>
        </p:spPr>
        <p:txBody>
          <a:bodyPr wrap="square">
            <a:spAutoFit/>
          </a:bodyPr>
          <a:lstStyle/>
          <a:p>
            <a:r>
              <a:rPr sz="1300" b="0">
                <a:solidFill>
                  <a:srgbClr val="0E1116"/>
                </a:solidFill>
                <a:latin typeface="Helvetica Neue"/>
              </a:rPr>
              <a:t>The 3 models are not mutually exclusive. The market shows that ecosystems producing serious founders combine a flagship event (strong signal, media coverage, deadline that forces delivery) + an ongoing program (continuous activation, permanent onboarding, milestone-based iteration).</a:t>
            </a:r>
          </a:p>
        </p:txBody>
      </p:sp>
      <p:sp>
        <p:nvSpPr>
          <p:cNvPr id="10" name="TextBox 9"/>
          <p:cNvSpPr txBox="1"/>
          <p:nvPr/>
        </p:nvSpPr>
        <p:spPr>
          <a:xfrm>
            <a:off x="502920" y="4200144"/>
            <a:ext cx="11185855" cy="2286000"/>
          </a:xfrm>
          <a:prstGeom prst="rect">
            <a:avLst/>
          </a:prstGeom>
          <a:noFill/>
        </p:spPr>
        <p:txBody>
          <a:bodyPr wrap="square">
            <a:spAutoFit/>
          </a:bodyPr>
          <a:lstStyle/>
          <a:p>
            <a:pPr>
              <a:spcAft>
                <a:spcPts val="400"/>
              </a:spcAft>
            </a:pPr>
            <a:r>
              <a:rPr sz="1200">
                <a:solidFill>
                  <a:srgbClr val="0E1116"/>
                </a:solidFill>
                <a:latin typeface="Helvetica Neue"/>
              </a:rPr>
              <a:t>• Pros: year-round ecosystem activity · robust VC pipeline · deadline-driven + iteration-driven · continuous onboarding</a:t>
            </a:r>
          </a:p>
          <a:p>
            <a:pPr>
              <a:spcAft>
                <a:spcPts val="400"/>
              </a:spcAft>
            </a:pPr>
            <a:r>
              <a:rPr sz="1200">
                <a:solidFill>
                  <a:srgbClr val="0E1116"/>
                </a:solidFill>
                <a:latin typeface="Helvetica Neue"/>
              </a:rPr>
              <a:t>• Cons: 2 systems to operate (an event + a platform) · requires on-chain infrastructure for waves · more organizational overhead</a:t>
            </a:r>
          </a:p>
        </p:txBody>
      </p:sp>
      <p:sp>
        <p:nvSpPr>
          <p:cNvPr id="11" name="TextBox 10"/>
          <p:cNvSpPr txBox="1"/>
          <p:nvPr/>
        </p:nvSpPr>
        <p:spPr>
          <a:xfrm>
            <a:off x="502920" y="6446520"/>
            <a:ext cx="11185855" cy="274320"/>
          </a:xfrm>
          <a:prstGeom prst="rect">
            <a:avLst/>
          </a:prstGeom>
          <a:noFill/>
        </p:spPr>
        <p:txBody>
          <a:bodyPr wrap="none">
            <a:spAutoFit/>
          </a:bodyPr>
          <a:lstStyle/>
          <a:p>
            <a:pPr algn="l"/>
            <a:r>
              <a:rPr sz="900">
                <a:solidFill>
                  <a:srgbClr val="58605A"/>
                </a:solidFill>
                <a:latin typeface="Helvetica Neue"/>
              </a:rPr>
              <a:t>xrpl-builder.vercel.app/en/buildathon</a:t>
            </a:r>
          </a:p>
        </p:txBody>
      </p:sp>
      <p:sp>
        <p:nvSpPr>
          <p:cNvPr id="12" name="TextBox 11"/>
          <p:cNvSpPr txBox="1"/>
          <p:nvPr/>
        </p:nvSpPr>
        <p:spPr>
          <a:xfrm>
            <a:off x="10820095" y="6446520"/>
            <a:ext cx="1097280" cy="274320"/>
          </a:xfrm>
          <a:prstGeom prst="rect">
            <a:avLst/>
          </a:prstGeom>
          <a:noFill/>
        </p:spPr>
        <p:txBody>
          <a:bodyPr wrap="none">
            <a:spAutoFit/>
          </a:bodyPr>
          <a:lstStyle/>
          <a:p>
            <a:pPr algn="r"/>
            <a:r>
              <a:rPr sz="900">
                <a:solidFill>
                  <a:srgbClr val="58605A"/>
                </a:solidFill>
                <a:latin typeface="Helvetica Neue"/>
              </a:rPr>
              <a:t>1/12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0"/>
            <a:ext cx="11963095" cy="1280160"/>
          </a:xfrm>
          <a:prstGeom prst="rect">
            <a:avLst/>
          </a:prstGeom>
          <a:solidFill>
            <a:srgbClr val="EC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2743200" cy="365760"/>
          </a:xfrm>
          <a:prstGeom prst="rect">
            <a:avLst/>
          </a:prstGeom>
          <a:noFill/>
        </p:spPr>
        <p:txBody>
          <a:bodyPr wrap="none">
            <a:spAutoFit/>
          </a:bodyPr>
          <a:lstStyle/>
          <a:p>
            <a:r>
              <a:rPr sz="1100" b="1">
                <a:solidFill>
                  <a:srgbClr val="58605A"/>
                </a:solidFill>
                <a:latin typeface="Helvetica Neue"/>
              </a:rPr>
              <a:t>SECTION 01</a:t>
            </a:r>
          </a:p>
        </p:txBody>
      </p:sp>
      <p:sp>
        <p:nvSpPr>
          <p:cNvPr id="5" name="TextBox 4"/>
          <p:cNvSpPr txBox="1"/>
          <p:nvPr/>
        </p:nvSpPr>
        <p:spPr>
          <a:xfrm>
            <a:off x="502920" y="594360"/>
            <a:ext cx="11185855" cy="685800"/>
          </a:xfrm>
          <a:prstGeom prst="rect">
            <a:avLst/>
          </a:prstGeom>
          <a:noFill/>
        </p:spPr>
        <p:txBody>
          <a:bodyPr wrap="none">
            <a:spAutoFit/>
          </a:bodyPr>
          <a:lstStyle/>
          <a:p>
            <a:r>
              <a:rPr sz="2600" b="1">
                <a:solidFill>
                  <a:srgbClr val="0E1116"/>
                </a:solidFill>
                <a:latin typeface="Helvetica Neue"/>
              </a:rPr>
              <a:t>Name — what do we call this thing?</a:t>
            </a:r>
          </a:p>
        </p:txBody>
      </p:sp>
      <p:sp>
        <p:nvSpPr>
          <p:cNvPr id="6" name="TextBox 5"/>
          <p:cNvSpPr txBox="1"/>
          <p:nvPr/>
        </p:nvSpPr>
        <p:spPr>
          <a:xfrm>
            <a:off x="502920" y="1554480"/>
            <a:ext cx="2743200" cy="365760"/>
          </a:xfrm>
          <a:prstGeom prst="rect">
            <a:avLst/>
          </a:prstGeom>
          <a:noFill/>
        </p:spPr>
        <p:txBody>
          <a:bodyPr wrap="none">
            <a:spAutoFit/>
          </a:bodyPr>
          <a:lstStyle/>
          <a:p>
            <a:r>
              <a:rPr sz="1100" b="1">
                <a:solidFill>
                  <a:srgbClr val="E87722"/>
                </a:solidFill>
                <a:latin typeface="Helvetica Neue"/>
              </a:rPr>
              <a:t>RECOMMENDATION</a:t>
            </a:r>
          </a:p>
        </p:txBody>
      </p:sp>
      <p:sp>
        <p:nvSpPr>
          <p:cNvPr id="7" name="TextBox 6"/>
          <p:cNvSpPr txBox="1"/>
          <p:nvPr/>
        </p:nvSpPr>
        <p:spPr>
          <a:xfrm>
            <a:off x="502920" y="1828800"/>
            <a:ext cx="11185855" cy="640080"/>
          </a:xfrm>
          <a:prstGeom prst="rect">
            <a:avLst/>
          </a:prstGeom>
          <a:noFill/>
        </p:spPr>
        <p:txBody>
          <a:bodyPr wrap="none">
            <a:spAutoFit/>
          </a:bodyPr>
          <a:lstStyle/>
          <a:p>
            <a:r>
              <a:rPr sz="2200" b="1">
                <a:solidFill>
                  <a:srgbClr val="0E1116"/>
                </a:solidFill>
                <a:latin typeface="Helvetica Neue"/>
              </a:rPr>
              <a:t>Buildathon 30x</a:t>
            </a:r>
          </a:p>
        </p:txBody>
      </p:sp>
      <p:sp>
        <p:nvSpPr>
          <p:cNvPr id="8" name="TextBox 7"/>
          <p:cNvSpPr txBox="1"/>
          <p:nvPr/>
        </p:nvSpPr>
        <p:spPr>
          <a:xfrm>
            <a:off x="502920" y="2468880"/>
            <a:ext cx="11185855" cy="457200"/>
          </a:xfrm>
          <a:prstGeom prst="rect">
            <a:avLst/>
          </a:prstGeom>
          <a:noFill/>
        </p:spPr>
        <p:txBody>
          <a:bodyPr wrap="none">
            <a:spAutoFit/>
          </a:bodyPr>
          <a:lstStyle/>
          <a:p>
            <a:r>
              <a:rPr sz="1400" b="0">
                <a:solidFill>
                  <a:srgbClr val="58605A"/>
                </a:solidFill>
                <a:latin typeface="Helvetica Neue"/>
              </a:rPr>
              <a:t>Tagline: "30 days · to the power of x" — the mechanic is encoded in the name: 30 days × rewards to the power of x (the rest stays open).</a:t>
            </a:r>
          </a:p>
        </p:txBody>
      </p:sp>
      <p:sp>
        <p:nvSpPr>
          <p:cNvPr id="9" name="TextBox 8"/>
          <p:cNvSpPr txBox="1"/>
          <p:nvPr/>
        </p:nvSpPr>
        <p:spPr>
          <a:xfrm>
            <a:off x="502920" y="2971800"/>
            <a:ext cx="11185855" cy="1371600"/>
          </a:xfrm>
          <a:prstGeom prst="rect">
            <a:avLst/>
          </a:prstGeom>
          <a:noFill/>
        </p:spPr>
        <p:txBody>
          <a:bodyPr wrap="square">
            <a:spAutoFit/>
          </a:bodyPr>
          <a:lstStyle/>
          <a:p>
            <a:r>
              <a:rPr sz="1300" b="0">
                <a:solidFill>
                  <a:srgbClr val="0E1116"/>
                </a:solidFill>
                <a:latin typeface="Helvetica Neue"/>
              </a:rPr>
              <a:t>The name encodes the program duration (30 days) and signals that the reward pool can scale (x = variable power). Marketing gold: no other crypto buildathon brand uses this pattern (Solana=Colosseum, Arbitrum=Open House, Akindo=WaveHack, ETHGlobal=city-based) — open market position. Final communication vote stays with the marketing team.</a:t>
            </a:r>
          </a:p>
        </p:txBody>
      </p:sp>
      <p:sp>
        <p:nvSpPr>
          <p:cNvPr id="10" name="TextBox 9"/>
          <p:cNvSpPr txBox="1"/>
          <p:nvPr/>
        </p:nvSpPr>
        <p:spPr>
          <a:xfrm>
            <a:off x="502920" y="4343400"/>
            <a:ext cx="11185855" cy="2286000"/>
          </a:xfrm>
          <a:prstGeom prst="rect">
            <a:avLst/>
          </a:prstGeom>
          <a:noFill/>
        </p:spPr>
        <p:txBody>
          <a:bodyPr wrap="square">
            <a:spAutoFit/>
          </a:bodyPr>
          <a:lstStyle/>
          <a:p>
            <a:pPr>
              <a:spcAft>
                <a:spcPts val="400"/>
              </a:spcAft>
            </a:pPr>
            <a:r>
              <a:rPr sz="1200">
                <a:solidFill>
                  <a:srgbClr val="0E1116"/>
                </a:solidFill>
                <a:latin typeface="Helvetica Neue"/>
              </a:rPr>
              <a:t>• Pros: punchy, memorable, scalable (next year we can do 30² or 30³ without changing brand); directly encodes the duration (Section 02) and signals a program with amplification potential</a:t>
            </a:r>
          </a:p>
          <a:p>
            <a:pPr>
              <a:spcAft>
                <a:spcPts val="400"/>
              </a:spcAft>
            </a:pPr>
            <a:r>
              <a:rPr sz="1200">
                <a:solidFill>
                  <a:srgbClr val="0E1116"/>
                </a:solidFill>
                <a:latin typeface="Helvetica Neue"/>
              </a:rPr>
              <a:t>• Cons: doesn't say "XRPL" — needs a sub-tag like "Buildathon 30x · XRPL Commons" for context; minor SEO risk ("30^x" can be read in different ways)</a:t>
            </a:r>
          </a:p>
        </p:txBody>
      </p:sp>
      <p:sp>
        <p:nvSpPr>
          <p:cNvPr id="11" name="TextBox 10"/>
          <p:cNvSpPr txBox="1"/>
          <p:nvPr/>
        </p:nvSpPr>
        <p:spPr>
          <a:xfrm>
            <a:off x="502920" y="6446520"/>
            <a:ext cx="11185855" cy="274320"/>
          </a:xfrm>
          <a:prstGeom prst="rect">
            <a:avLst/>
          </a:prstGeom>
          <a:noFill/>
        </p:spPr>
        <p:txBody>
          <a:bodyPr wrap="none">
            <a:spAutoFit/>
          </a:bodyPr>
          <a:lstStyle/>
          <a:p>
            <a:pPr algn="l"/>
            <a:r>
              <a:rPr sz="900">
                <a:solidFill>
                  <a:srgbClr val="58605A"/>
                </a:solidFill>
                <a:latin typeface="Helvetica Neue"/>
              </a:rPr>
              <a:t>xrpl-builder.vercel.app/en/buildathon</a:t>
            </a:r>
          </a:p>
        </p:txBody>
      </p:sp>
      <p:sp>
        <p:nvSpPr>
          <p:cNvPr id="12" name="TextBox 11"/>
          <p:cNvSpPr txBox="1"/>
          <p:nvPr/>
        </p:nvSpPr>
        <p:spPr>
          <a:xfrm>
            <a:off x="10820095" y="6446520"/>
            <a:ext cx="1097280" cy="274320"/>
          </a:xfrm>
          <a:prstGeom prst="rect">
            <a:avLst/>
          </a:prstGeom>
          <a:noFill/>
        </p:spPr>
        <p:txBody>
          <a:bodyPr wrap="none">
            <a:spAutoFit/>
          </a:bodyPr>
          <a:lstStyle/>
          <a:p>
            <a:pPr algn="r"/>
            <a:r>
              <a:rPr sz="900">
                <a:solidFill>
                  <a:srgbClr val="58605A"/>
                </a:solidFill>
                <a:latin typeface="Helvetica Neue"/>
              </a:rPr>
              <a:t>2/12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0"/>
            <a:ext cx="11963095" cy="1280160"/>
          </a:xfrm>
          <a:prstGeom prst="rect">
            <a:avLst/>
          </a:prstGeom>
          <a:solidFill>
            <a:srgbClr val="EC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2743200" cy="365760"/>
          </a:xfrm>
          <a:prstGeom prst="rect">
            <a:avLst/>
          </a:prstGeom>
          <a:noFill/>
        </p:spPr>
        <p:txBody>
          <a:bodyPr wrap="none">
            <a:spAutoFit/>
          </a:bodyPr>
          <a:lstStyle/>
          <a:p>
            <a:r>
              <a:rPr sz="1100" b="1">
                <a:solidFill>
                  <a:srgbClr val="58605A"/>
                </a:solidFill>
                <a:latin typeface="Helvetica Neue"/>
              </a:rPr>
              <a:t>SECTION 02</a:t>
            </a:r>
          </a:p>
        </p:txBody>
      </p:sp>
      <p:sp>
        <p:nvSpPr>
          <p:cNvPr id="5" name="TextBox 4"/>
          <p:cNvSpPr txBox="1"/>
          <p:nvPr/>
        </p:nvSpPr>
        <p:spPr>
          <a:xfrm>
            <a:off x="502920" y="594360"/>
            <a:ext cx="11185855" cy="685800"/>
          </a:xfrm>
          <a:prstGeom prst="rect">
            <a:avLst/>
          </a:prstGeom>
          <a:noFill/>
        </p:spPr>
        <p:txBody>
          <a:bodyPr wrap="none">
            <a:spAutoFit/>
          </a:bodyPr>
          <a:lstStyle/>
          <a:p>
            <a:r>
              <a:rPr sz="2600" b="1">
                <a:solidFill>
                  <a:srgbClr val="0E1116"/>
                </a:solidFill>
                <a:latin typeface="Helvetica Neue"/>
              </a:rPr>
              <a:t>Format &amp; cadence — how long, what rhythm?</a:t>
            </a:r>
          </a:p>
        </p:txBody>
      </p:sp>
      <p:sp>
        <p:nvSpPr>
          <p:cNvPr id="6" name="TextBox 5"/>
          <p:cNvSpPr txBox="1"/>
          <p:nvPr/>
        </p:nvSpPr>
        <p:spPr>
          <a:xfrm>
            <a:off x="502920" y="1554480"/>
            <a:ext cx="2743200" cy="365760"/>
          </a:xfrm>
          <a:prstGeom prst="rect">
            <a:avLst/>
          </a:prstGeom>
          <a:noFill/>
        </p:spPr>
        <p:txBody>
          <a:bodyPr wrap="none">
            <a:spAutoFit/>
          </a:bodyPr>
          <a:lstStyle/>
          <a:p>
            <a:r>
              <a:rPr sz="1100" b="1">
                <a:solidFill>
                  <a:srgbClr val="E87722"/>
                </a:solidFill>
                <a:latin typeface="Helvetica Neue"/>
              </a:rPr>
              <a:t>RECOMMENDATION</a:t>
            </a:r>
          </a:p>
        </p:txBody>
      </p:sp>
      <p:sp>
        <p:nvSpPr>
          <p:cNvPr id="7" name="TextBox 6"/>
          <p:cNvSpPr txBox="1"/>
          <p:nvPr/>
        </p:nvSpPr>
        <p:spPr>
          <a:xfrm>
            <a:off x="502920" y="1828800"/>
            <a:ext cx="11185855" cy="640080"/>
          </a:xfrm>
          <a:prstGeom prst="rect">
            <a:avLst/>
          </a:prstGeom>
          <a:noFill/>
        </p:spPr>
        <p:txBody>
          <a:bodyPr wrap="none">
            <a:spAutoFit/>
          </a:bodyPr>
          <a:lstStyle/>
          <a:p>
            <a:r>
              <a:rPr sz="2200" b="1">
                <a:solidFill>
                  <a:srgbClr val="0E1116"/>
                </a:solidFill>
                <a:latin typeface="Helvetica Neue"/>
              </a:rPr>
              <a:t>30 days · full online</a:t>
            </a:r>
          </a:p>
        </p:txBody>
      </p:sp>
      <p:sp>
        <p:nvSpPr>
          <p:cNvPr id="8" name="TextBox 7"/>
          <p:cNvSpPr txBox="1"/>
          <p:nvPr/>
        </p:nvSpPr>
        <p:spPr>
          <a:xfrm>
            <a:off x="502920" y="2468880"/>
            <a:ext cx="11185855" cy="457200"/>
          </a:xfrm>
          <a:prstGeom prst="rect">
            <a:avLst/>
          </a:prstGeom>
          <a:noFill/>
        </p:spPr>
        <p:txBody>
          <a:bodyPr wrap="none">
            <a:spAutoFit/>
          </a:bodyPr>
          <a:lstStyle/>
          <a:p>
            <a:r>
              <a:rPr sz="1400" b="0">
                <a:solidFill>
                  <a:srgbClr val="58605A"/>
                </a:solidFill>
                <a:latin typeface="Helvetica Neue"/>
              </a:rPr>
              <a:t>Day 0 kickoff → 28 days build → Day 29 freeze → Day 30 Demo Day. 100% remote.</a:t>
            </a:r>
          </a:p>
        </p:txBody>
      </p:sp>
      <p:sp>
        <p:nvSpPr>
          <p:cNvPr id="9" name="TextBox 8"/>
          <p:cNvSpPr txBox="1"/>
          <p:nvPr/>
        </p:nvSpPr>
        <p:spPr>
          <a:xfrm>
            <a:off x="502920" y="2971800"/>
            <a:ext cx="11185855" cy="1371600"/>
          </a:xfrm>
          <a:prstGeom prst="rect">
            <a:avLst/>
          </a:prstGeom>
          <a:noFill/>
        </p:spPr>
        <p:txBody>
          <a:bodyPr wrap="square">
            <a:spAutoFit/>
          </a:bodyPr>
          <a:lstStyle/>
          <a:p>
            <a:r>
              <a:rPr sz="1300" b="0">
                <a:solidFill>
                  <a:srgbClr val="0E1116"/>
                </a:solidFill>
                <a:latin typeface="Helvetica Neue"/>
              </a:rPr>
              <a:t>Compact 30-day sprint, fully online. No travel, no in-person logistics — every team competes on equal footing globally. Long enough to ship a credible MVP + working demo (4 weeks of build), short enough to maintain urgency.</a:t>
            </a:r>
          </a:p>
        </p:txBody>
      </p:sp>
      <p:sp>
        <p:nvSpPr>
          <p:cNvPr id="10" name="TextBox 9"/>
          <p:cNvSpPr txBox="1"/>
          <p:nvPr/>
        </p:nvSpPr>
        <p:spPr>
          <a:xfrm>
            <a:off x="502920" y="4017264"/>
            <a:ext cx="11185855" cy="2286000"/>
          </a:xfrm>
          <a:prstGeom prst="rect">
            <a:avLst/>
          </a:prstGeom>
          <a:noFill/>
        </p:spPr>
        <p:txBody>
          <a:bodyPr wrap="square">
            <a:spAutoFit/>
          </a:bodyPr>
          <a:lstStyle/>
          <a:p>
            <a:pPr>
              <a:spcAft>
                <a:spcPts val="400"/>
              </a:spcAft>
            </a:pPr>
            <a:r>
              <a:rPr sz="1200">
                <a:solidFill>
                  <a:srgbClr val="0E1116"/>
                </a:solidFill>
                <a:latin typeface="Helvetica Neue"/>
              </a:rPr>
              <a:t>• Day 0: Kickoff online, presentation and Q&amp;A session</a:t>
            </a:r>
          </a:p>
          <a:p>
            <a:pPr>
              <a:spcAft>
                <a:spcPts val="400"/>
              </a:spcAft>
            </a:pPr>
            <a:r>
              <a:rPr sz="1200">
                <a:solidFill>
                  <a:srgbClr val="0E1116"/>
                </a:solidFill>
                <a:latin typeface="Helvetica Neue"/>
              </a:rPr>
              <a:t>• Day 1 → Day 28: Build phase — 2 office-hour sessions/week (30min each) + Build at the Commons House 1 day/week (cf. Section 09)</a:t>
            </a:r>
          </a:p>
          <a:p>
            <a:pPr>
              <a:spcAft>
                <a:spcPts val="400"/>
              </a:spcAft>
            </a:pPr>
            <a:r>
              <a:rPr sz="1200">
                <a:solidFill>
                  <a:srgbClr val="0E1116"/>
                </a:solidFill>
                <a:latin typeface="Helvetica Neue"/>
              </a:rPr>
              <a:t>• Day 29: Pitch deck freeze + Demo freeze — code, deck, video demo all locked</a:t>
            </a:r>
          </a:p>
          <a:p>
            <a:pPr>
              <a:spcAft>
                <a:spcPts val="400"/>
              </a:spcAft>
            </a:pPr>
            <a:r>
              <a:rPr sz="1200">
                <a:solidFill>
                  <a:srgbClr val="0E1116"/>
                </a:solidFill>
                <a:latin typeface="Helvetica Neue"/>
              </a:rPr>
              <a:t>• Day 30: Demo Day online (livestream) — mandatory gate: project deployed on XRPL mainnet with measurable on-chain activity via SourceTag (volume, transactions, addresses). Jury review · prizes announcement.</a:t>
            </a:r>
          </a:p>
        </p:txBody>
      </p:sp>
      <p:sp>
        <p:nvSpPr>
          <p:cNvPr id="11" name="TextBox 10"/>
          <p:cNvSpPr txBox="1"/>
          <p:nvPr/>
        </p:nvSpPr>
        <p:spPr>
          <a:xfrm>
            <a:off x="502920" y="6446520"/>
            <a:ext cx="11185855" cy="274320"/>
          </a:xfrm>
          <a:prstGeom prst="rect">
            <a:avLst/>
          </a:prstGeom>
          <a:noFill/>
        </p:spPr>
        <p:txBody>
          <a:bodyPr wrap="none">
            <a:spAutoFit/>
          </a:bodyPr>
          <a:lstStyle/>
          <a:p>
            <a:pPr algn="l"/>
            <a:r>
              <a:rPr sz="900">
                <a:solidFill>
                  <a:srgbClr val="58605A"/>
                </a:solidFill>
                <a:latin typeface="Helvetica Neue"/>
              </a:rPr>
              <a:t>xrpl-builder.vercel.app/en/buildathon</a:t>
            </a:r>
          </a:p>
        </p:txBody>
      </p:sp>
      <p:sp>
        <p:nvSpPr>
          <p:cNvPr id="12" name="TextBox 11"/>
          <p:cNvSpPr txBox="1"/>
          <p:nvPr/>
        </p:nvSpPr>
        <p:spPr>
          <a:xfrm>
            <a:off x="10820095" y="6446520"/>
            <a:ext cx="1097280" cy="274320"/>
          </a:xfrm>
          <a:prstGeom prst="rect">
            <a:avLst/>
          </a:prstGeom>
          <a:noFill/>
        </p:spPr>
        <p:txBody>
          <a:bodyPr wrap="none">
            <a:spAutoFit/>
          </a:bodyPr>
          <a:lstStyle/>
          <a:p>
            <a:pPr algn="r"/>
            <a:r>
              <a:rPr sz="900">
                <a:solidFill>
                  <a:srgbClr val="58605A"/>
                </a:solidFill>
                <a:latin typeface="Helvetica Neue"/>
              </a:rPr>
              <a:t>3/12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0"/>
            <a:ext cx="11963095" cy="1280160"/>
          </a:xfrm>
          <a:prstGeom prst="rect">
            <a:avLst/>
          </a:prstGeom>
          <a:solidFill>
            <a:srgbClr val="EC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2743200" cy="365760"/>
          </a:xfrm>
          <a:prstGeom prst="rect">
            <a:avLst/>
          </a:prstGeom>
          <a:noFill/>
        </p:spPr>
        <p:txBody>
          <a:bodyPr wrap="none">
            <a:spAutoFit/>
          </a:bodyPr>
          <a:lstStyle/>
          <a:p>
            <a:r>
              <a:rPr sz="1100" b="1">
                <a:solidFill>
                  <a:srgbClr val="58605A"/>
                </a:solidFill>
                <a:latin typeface="Helvetica Neue"/>
              </a:rPr>
              <a:t>SECTION 03</a:t>
            </a:r>
          </a:p>
        </p:txBody>
      </p:sp>
      <p:sp>
        <p:nvSpPr>
          <p:cNvPr id="5" name="TextBox 4"/>
          <p:cNvSpPr txBox="1"/>
          <p:nvPr/>
        </p:nvSpPr>
        <p:spPr>
          <a:xfrm>
            <a:off x="502920" y="594360"/>
            <a:ext cx="11185855" cy="685800"/>
          </a:xfrm>
          <a:prstGeom prst="rect">
            <a:avLst/>
          </a:prstGeom>
          <a:noFill/>
        </p:spPr>
        <p:txBody>
          <a:bodyPr wrap="none">
            <a:spAutoFit/>
          </a:bodyPr>
          <a:lstStyle/>
          <a:p>
            <a:r>
              <a:rPr sz="2600" b="1">
                <a:solidFill>
                  <a:srgbClr val="0E1116"/>
                </a:solidFill>
                <a:latin typeface="Helvetica Neue"/>
              </a:rPr>
              <a:t>Timing — when does it happen?</a:t>
            </a:r>
          </a:p>
        </p:txBody>
      </p:sp>
      <p:sp>
        <p:nvSpPr>
          <p:cNvPr id="6" name="TextBox 5"/>
          <p:cNvSpPr txBox="1"/>
          <p:nvPr/>
        </p:nvSpPr>
        <p:spPr>
          <a:xfrm>
            <a:off x="502920" y="1554480"/>
            <a:ext cx="2743200" cy="365760"/>
          </a:xfrm>
          <a:prstGeom prst="rect">
            <a:avLst/>
          </a:prstGeom>
          <a:noFill/>
        </p:spPr>
        <p:txBody>
          <a:bodyPr wrap="none">
            <a:spAutoFit/>
          </a:bodyPr>
          <a:lstStyle/>
          <a:p>
            <a:r>
              <a:rPr sz="1100" b="1">
                <a:solidFill>
                  <a:srgbClr val="E87722"/>
                </a:solidFill>
                <a:latin typeface="Helvetica Neue"/>
              </a:rPr>
              <a:t>RECOMMENDATION</a:t>
            </a:r>
          </a:p>
        </p:txBody>
      </p:sp>
      <p:sp>
        <p:nvSpPr>
          <p:cNvPr id="7" name="TextBox 6"/>
          <p:cNvSpPr txBox="1"/>
          <p:nvPr/>
        </p:nvSpPr>
        <p:spPr>
          <a:xfrm>
            <a:off x="502920" y="1828800"/>
            <a:ext cx="11185855" cy="640080"/>
          </a:xfrm>
          <a:prstGeom prst="rect">
            <a:avLst/>
          </a:prstGeom>
          <a:noFill/>
        </p:spPr>
        <p:txBody>
          <a:bodyPr wrap="none">
            <a:spAutoFit/>
          </a:bodyPr>
          <a:lstStyle/>
          <a:p>
            <a:r>
              <a:rPr sz="2200" b="1">
                <a:solidFill>
                  <a:srgbClr val="0E1116"/>
                </a:solidFill>
                <a:latin typeface="Helvetica Neue"/>
              </a:rPr>
              <a:t>Wed 17 June → Fri 17 July 2026 · 30 days</a:t>
            </a:r>
          </a:p>
        </p:txBody>
      </p:sp>
      <p:sp>
        <p:nvSpPr>
          <p:cNvPr id="8" name="TextBox 7"/>
          <p:cNvSpPr txBox="1"/>
          <p:nvPr/>
        </p:nvSpPr>
        <p:spPr>
          <a:xfrm>
            <a:off x="502920" y="2468880"/>
            <a:ext cx="11185855" cy="457200"/>
          </a:xfrm>
          <a:prstGeom prst="rect">
            <a:avLst/>
          </a:prstGeom>
          <a:noFill/>
        </p:spPr>
        <p:txBody>
          <a:bodyPr wrap="none">
            <a:spAutoFit/>
          </a:bodyPr>
          <a:lstStyle/>
          <a:p>
            <a:r>
              <a:rPr sz="1400" b="0">
                <a:solidFill>
                  <a:srgbClr val="58605A"/>
                </a:solidFill>
                <a:latin typeface="Helvetica Neue"/>
              </a:rPr>
              <a:t>Kickoff Wed 17 June, Demo Day Fri 17 July — exactly 30 days, fully online</a:t>
            </a:r>
          </a:p>
        </p:txBody>
      </p:sp>
      <p:sp>
        <p:nvSpPr>
          <p:cNvPr id="9" name="TextBox 8"/>
          <p:cNvSpPr txBox="1"/>
          <p:nvPr/>
        </p:nvSpPr>
        <p:spPr>
          <a:xfrm>
            <a:off x="502920" y="2971800"/>
            <a:ext cx="11185855" cy="1371600"/>
          </a:xfrm>
          <a:prstGeom prst="rect">
            <a:avLst/>
          </a:prstGeom>
          <a:noFill/>
        </p:spPr>
        <p:txBody>
          <a:bodyPr wrap="square">
            <a:spAutoFit/>
          </a:bodyPr>
          <a:lstStyle/>
          <a:p>
            <a:r>
              <a:rPr sz="1300" b="0">
                <a:solidFill>
                  <a:srgbClr val="0E1116"/>
                </a:solidFill>
                <a:latin typeface="Helvetica Neue"/>
              </a:rPr>
              <a:t>Ships BEFORE the August summer break (builders deliver with code in hand). Aligns with XLS-66 going mainnet (lending live summer 2026). Post-PWG energy (April 2026) still fresh.</a:t>
            </a:r>
          </a:p>
        </p:txBody>
      </p:sp>
      <p:sp>
        <p:nvSpPr>
          <p:cNvPr id="10" name="TextBox 9"/>
          <p:cNvSpPr txBox="1"/>
          <p:nvPr/>
        </p:nvSpPr>
        <p:spPr>
          <a:xfrm>
            <a:off x="502920" y="6446520"/>
            <a:ext cx="11185855" cy="274320"/>
          </a:xfrm>
          <a:prstGeom prst="rect">
            <a:avLst/>
          </a:prstGeom>
          <a:noFill/>
        </p:spPr>
        <p:txBody>
          <a:bodyPr wrap="none">
            <a:spAutoFit/>
          </a:bodyPr>
          <a:lstStyle/>
          <a:p>
            <a:pPr algn="l"/>
            <a:r>
              <a:rPr sz="900">
                <a:solidFill>
                  <a:srgbClr val="58605A"/>
                </a:solidFill>
                <a:latin typeface="Helvetica Neue"/>
              </a:rPr>
              <a:t>xrpl-builder.vercel.app/en/buildathon</a:t>
            </a:r>
          </a:p>
        </p:txBody>
      </p:sp>
      <p:sp>
        <p:nvSpPr>
          <p:cNvPr id="11" name="TextBox 10"/>
          <p:cNvSpPr txBox="1"/>
          <p:nvPr/>
        </p:nvSpPr>
        <p:spPr>
          <a:xfrm>
            <a:off x="10820095" y="6446520"/>
            <a:ext cx="1097280" cy="274320"/>
          </a:xfrm>
          <a:prstGeom prst="rect">
            <a:avLst/>
          </a:prstGeom>
          <a:noFill/>
        </p:spPr>
        <p:txBody>
          <a:bodyPr wrap="none">
            <a:spAutoFit/>
          </a:bodyPr>
          <a:lstStyle/>
          <a:p>
            <a:pPr algn="r"/>
            <a:r>
              <a:rPr sz="900">
                <a:solidFill>
                  <a:srgbClr val="58605A"/>
                </a:solidFill>
                <a:latin typeface="Helvetica Neue"/>
              </a:rPr>
              <a:t>4/12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0"/>
            <a:ext cx="11963095" cy="1280160"/>
          </a:xfrm>
          <a:prstGeom prst="rect">
            <a:avLst/>
          </a:prstGeom>
          <a:solidFill>
            <a:srgbClr val="EC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2743200" cy="365760"/>
          </a:xfrm>
          <a:prstGeom prst="rect">
            <a:avLst/>
          </a:prstGeom>
          <a:noFill/>
        </p:spPr>
        <p:txBody>
          <a:bodyPr wrap="none">
            <a:spAutoFit/>
          </a:bodyPr>
          <a:lstStyle/>
          <a:p>
            <a:r>
              <a:rPr sz="1100" b="1">
                <a:solidFill>
                  <a:srgbClr val="58605A"/>
                </a:solidFill>
                <a:latin typeface="Helvetica Neue"/>
              </a:rPr>
              <a:t>SECTION 04</a:t>
            </a:r>
          </a:p>
        </p:txBody>
      </p:sp>
      <p:sp>
        <p:nvSpPr>
          <p:cNvPr id="5" name="TextBox 4"/>
          <p:cNvSpPr txBox="1"/>
          <p:nvPr/>
        </p:nvSpPr>
        <p:spPr>
          <a:xfrm>
            <a:off x="502920" y="594360"/>
            <a:ext cx="11185855" cy="685800"/>
          </a:xfrm>
          <a:prstGeom prst="rect">
            <a:avLst/>
          </a:prstGeom>
          <a:noFill/>
        </p:spPr>
        <p:txBody>
          <a:bodyPr wrap="none">
            <a:spAutoFit/>
          </a:bodyPr>
          <a:lstStyle/>
          <a:p>
            <a:r>
              <a:rPr sz="2600" b="1">
                <a:solidFill>
                  <a:srgbClr val="0E1116"/>
                </a:solidFill>
                <a:latin typeface="Helvetica Neue"/>
              </a:rPr>
              <a:t>Challenge register — what can teams build?</a:t>
            </a:r>
          </a:p>
        </p:txBody>
      </p:sp>
      <p:sp>
        <p:nvSpPr>
          <p:cNvPr id="6" name="TextBox 5"/>
          <p:cNvSpPr txBox="1"/>
          <p:nvPr/>
        </p:nvSpPr>
        <p:spPr>
          <a:xfrm>
            <a:off x="502920" y="1554480"/>
            <a:ext cx="2743200" cy="365760"/>
          </a:xfrm>
          <a:prstGeom prst="rect">
            <a:avLst/>
          </a:prstGeom>
          <a:noFill/>
        </p:spPr>
        <p:txBody>
          <a:bodyPr wrap="none">
            <a:spAutoFit/>
          </a:bodyPr>
          <a:lstStyle/>
          <a:p>
            <a:r>
              <a:rPr sz="1100" b="1">
                <a:solidFill>
                  <a:srgbClr val="E87722"/>
                </a:solidFill>
                <a:latin typeface="Helvetica Neue"/>
              </a:rPr>
              <a:t>RECOMMENDATION</a:t>
            </a:r>
          </a:p>
        </p:txBody>
      </p:sp>
      <p:sp>
        <p:nvSpPr>
          <p:cNvPr id="7" name="TextBox 6"/>
          <p:cNvSpPr txBox="1"/>
          <p:nvPr/>
        </p:nvSpPr>
        <p:spPr>
          <a:xfrm>
            <a:off x="502920" y="1828800"/>
            <a:ext cx="11185855" cy="640080"/>
          </a:xfrm>
          <a:prstGeom prst="rect">
            <a:avLst/>
          </a:prstGeom>
          <a:noFill/>
        </p:spPr>
        <p:txBody>
          <a:bodyPr wrap="none">
            <a:spAutoFit/>
          </a:bodyPr>
          <a:lstStyle/>
          <a:p>
            <a:r>
              <a:rPr sz="2200" b="1">
                <a:solidFill>
                  <a:srgbClr val="0E1116"/>
                </a:solidFill>
                <a:latin typeface="Helvetica Neue"/>
              </a:rPr>
              <a:t>Registry /opportunities — 41 APP opportunities, 5 themes</a:t>
            </a:r>
          </a:p>
        </p:txBody>
      </p:sp>
      <p:sp>
        <p:nvSpPr>
          <p:cNvPr id="8" name="TextBox 7"/>
          <p:cNvSpPr txBox="1"/>
          <p:nvPr/>
        </p:nvSpPr>
        <p:spPr>
          <a:xfrm>
            <a:off x="502920" y="2468880"/>
            <a:ext cx="11185855" cy="457200"/>
          </a:xfrm>
          <a:prstGeom prst="rect">
            <a:avLst/>
          </a:prstGeom>
          <a:noFill/>
        </p:spPr>
        <p:txBody>
          <a:bodyPr wrap="none">
            <a:spAutoFit/>
          </a:bodyPr>
          <a:lstStyle/>
          <a:p>
            <a:r>
              <a:rPr sz="1400" b="0">
                <a:solidFill>
                  <a:srgbClr val="58605A"/>
                </a:solidFill>
                <a:latin typeface="Helvetica Neue"/>
              </a:rPr>
              <a:t>The Buildathon challenge register = the APP subset of the unified registry /opportunities (single source of truth · convergence PWG + ATKA + ECO + YC + interviews). The 26 TOOL opps (libraries, primitives, SDKs) are out of scope for the Buildathon — intended for existing teams / core contributors.</a:t>
            </a:r>
          </a:p>
        </p:txBody>
      </p:sp>
      <p:sp>
        <p:nvSpPr>
          <p:cNvPr id="9" name="TextBox 8"/>
          <p:cNvSpPr txBox="1"/>
          <p:nvPr/>
        </p:nvSpPr>
        <p:spPr>
          <a:xfrm>
            <a:off x="502920" y="2971800"/>
            <a:ext cx="11185855" cy="1371600"/>
          </a:xfrm>
          <a:prstGeom prst="rect">
            <a:avLst/>
          </a:prstGeom>
          <a:noFill/>
        </p:spPr>
        <p:txBody>
          <a:bodyPr wrap="square">
            <a:spAutoFit/>
          </a:bodyPr>
          <a:lstStyle/>
          <a:p>
            <a:r>
              <a:rPr sz="1300" b="0">
                <a:solidFill>
                  <a:srgbClr val="0E1116"/>
                </a:solidFill>
                <a:latin typeface="Helvetica Neue"/>
              </a:rPr>
              <a:t>The OPPs in the registry are identified opportunities — ideas where we believe a potential need exists (converging signals from PWG + ATKA + ecosystem + YC + founder interviews). They are in no way a restrictive framework. All XRPL projects are allowed and welcome — whether they map to an OPP, combine several, or propose something completely different. The registry is a starting point for builders looking for inspiration, not a mandatory checklist.</a:t>
            </a:r>
          </a:p>
        </p:txBody>
      </p:sp>
      <p:sp>
        <p:nvSpPr>
          <p:cNvPr id="10" name="TextBox 9"/>
          <p:cNvSpPr txBox="1"/>
          <p:nvPr/>
        </p:nvSpPr>
        <p:spPr>
          <a:xfrm>
            <a:off x="502920" y="4343400"/>
            <a:ext cx="11185855" cy="2286000"/>
          </a:xfrm>
          <a:prstGeom prst="rect">
            <a:avLst/>
          </a:prstGeom>
          <a:noFill/>
        </p:spPr>
        <p:txBody>
          <a:bodyPr wrap="square">
            <a:spAutoFit/>
          </a:bodyPr>
          <a:lstStyle/>
          <a:p>
            <a:pPr>
              <a:spcAft>
                <a:spcPts val="400"/>
              </a:spcAft>
            </a:pPr>
            <a:r>
              <a:rPr sz="1200">
                <a:solidFill>
                  <a:srgbClr val="0E1116"/>
                </a:solidFill>
                <a:latin typeface="Helvetica Neue"/>
              </a:rPr>
              <a:t>• Tier HIGH (×7 APP challenges) → Grand Prix Bracket. The highest-impact user-facing opps: OPP-017 · B2B Stablecoin FX desk / corridor (b2b)</a:t>
            </a:r>
          </a:p>
          <a:p>
            <a:pPr>
              <a:spcAft>
                <a:spcPts val="400"/>
              </a:spcAft>
            </a:pPr>
            <a:r>
              <a:rPr sz="1200">
                <a:solidFill>
                  <a:srgbClr val="0E1116"/>
                </a:solidFill>
                <a:latin typeface="Helvetica Neue"/>
              </a:rPr>
              <a:t>• OPP-030 · Lending Protocol on EVM Sidechain (Morpho-style) (defi)</a:t>
            </a:r>
          </a:p>
          <a:p>
            <a:pPr>
              <a:spcAft>
                <a:spcPts val="400"/>
              </a:spcAft>
            </a:pPr>
            <a:r>
              <a:rPr sz="1200">
                <a:solidFill>
                  <a:srgbClr val="0E1116"/>
                </a:solidFill>
                <a:latin typeface="Helvetica Neue"/>
              </a:rPr>
              <a:t>• OPP-034 · Lending front-end on Single Asset Vault (pre-XLS-66) (defi)</a:t>
            </a:r>
          </a:p>
          <a:p>
            <a:pPr>
              <a:spcAft>
                <a:spcPts val="400"/>
              </a:spcAft>
            </a:pPr>
            <a:r>
              <a:rPr sz="1200">
                <a:solidFill>
                  <a:srgbClr val="0E1116"/>
                </a:solidFill>
                <a:latin typeface="Helvetica Neue"/>
              </a:rPr>
              <a:t>• OPP-025 · Compliance-native consumer payments (Wise-on-XRPL) (rwat)</a:t>
            </a:r>
          </a:p>
          <a:p>
            <a:pPr>
              <a:spcAft>
                <a:spcPts val="400"/>
              </a:spcAft>
            </a:pPr>
            <a:r>
              <a:rPr sz="1200">
                <a:solidFill>
                  <a:srgbClr val="0E1116"/>
                </a:solidFill>
                <a:latin typeface="Helvetica Neue"/>
              </a:rPr>
              <a:t>• OPP-036 · Restaking Protocol for XRP (Babylon-fork) (defi)</a:t>
            </a:r>
          </a:p>
        </p:txBody>
      </p:sp>
      <p:sp>
        <p:nvSpPr>
          <p:cNvPr id="11" name="TextBox 10"/>
          <p:cNvSpPr txBox="1"/>
          <p:nvPr/>
        </p:nvSpPr>
        <p:spPr>
          <a:xfrm>
            <a:off x="502920" y="6446520"/>
            <a:ext cx="11185855" cy="274320"/>
          </a:xfrm>
          <a:prstGeom prst="rect">
            <a:avLst/>
          </a:prstGeom>
          <a:noFill/>
        </p:spPr>
        <p:txBody>
          <a:bodyPr wrap="none">
            <a:spAutoFit/>
          </a:bodyPr>
          <a:lstStyle/>
          <a:p>
            <a:pPr algn="l"/>
            <a:r>
              <a:rPr sz="900">
                <a:solidFill>
                  <a:srgbClr val="58605A"/>
                </a:solidFill>
                <a:latin typeface="Helvetica Neue"/>
              </a:rPr>
              <a:t>xrpl-builder.vercel.app/en/buildathon</a:t>
            </a:r>
          </a:p>
        </p:txBody>
      </p:sp>
      <p:sp>
        <p:nvSpPr>
          <p:cNvPr id="12" name="TextBox 11"/>
          <p:cNvSpPr txBox="1"/>
          <p:nvPr/>
        </p:nvSpPr>
        <p:spPr>
          <a:xfrm>
            <a:off x="10820095" y="6446520"/>
            <a:ext cx="1097280" cy="274320"/>
          </a:xfrm>
          <a:prstGeom prst="rect">
            <a:avLst/>
          </a:prstGeom>
          <a:noFill/>
        </p:spPr>
        <p:txBody>
          <a:bodyPr wrap="none">
            <a:spAutoFit/>
          </a:bodyPr>
          <a:lstStyle/>
          <a:p>
            <a:pPr algn="r"/>
            <a:r>
              <a:rPr sz="900">
                <a:solidFill>
                  <a:srgbClr val="58605A"/>
                </a:solidFill>
                <a:latin typeface="Helvetica Neue"/>
              </a:rPr>
              <a:t>5/12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0"/>
            <a:ext cx="11963095" cy="1280160"/>
          </a:xfrm>
          <a:prstGeom prst="rect">
            <a:avLst/>
          </a:prstGeom>
          <a:solidFill>
            <a:srgbClr val="EC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2743200" cy="365760"/>
          </a:xfrm>
          <a:prstGeom prst="rect">
            <a:avLst/>
          </a:prstGeom>
          <a:noFill/>
        </p:spPr>
        <p:txBody>
          <a:bodyPr wrap="none">
            <a:spAutoFit/>
          </a:bodyPr>
          <a:lstStyle/>
          <a:p>
            <a:r>
              <a:rPr sz="1100" b="1">
                <a:solidFill>
                  <a:srgbClr val="58605A"/>
                </a:solidFill>
                <a:latin typeface="Helvetica Neue"/>
              </a:rPr>
              <a:t>SECTION 05</a:t>
            </a:r>
          </a:p>
        </p:txBody>
      </p:sp>
      <p:sp>
        <p:nvSpPr>
          <p:cNvPr id="5" name="TextBox 4"/>
          <p:cNvSpPr txBox="1"/>
          <p:nvPr/>
        </p:nvSpPr>
        <p:spPr>
          <a:xfrm>
            <a:off x="502920" y="594360"/>
            <a:ext cx="11185855" cy="685800"/>
          </a:xfrm>
          <a:prstGeom prst="rect">
            <a:avLst/>
          </a:prstGeom>
          <a:noFill/>
        </p:spPr>
        <p:txBody>
          <a:bodyPr wrap="none">
            <a:spAutoFit/>
          </a:bodyPr>
          <a:lstStyle/>
          <a:p>
            <a:r>
              <a:rPr sz="2600" b="1">
                <a:solidFill>
                  <a:srgbClr val="0E1116"/>
                </a:solidFill>
                <a:latin typeface="Helvetica Neue"/>
              </a:rPr>
              <a:t>Prizes — what do winners get?</a:t>
            </a:r>
          </a:p>
        </p:txBody>
      </p:sp>
      <p:sp>
        <p:nvSpPr>
          <p:cNvPr id="6" name="TextBox 5"/>
          <p:cNvSpPr txBox="1"/>
          <p:nvPr/>
        </p:nvSpPr>
        <p:spPr>
          <a:xfrm>
            <a:off x="502920" y="1554480"/>
            <a:ext cx="2743200" cy="365760"/>
          </a:xfrm>
          <a:prstGeom prst="rect">
            <a:avLst/>
          </a:prstGeom>
          <a:noFill/>
        </p:spPr>
        <p:txBody>
          <a:bodyPr wrap="none">
            <a:spAutoFit/>
          </a:bodyPr>
          <a:lstStyle/>
          <a:p>
            <a:r>
              <a:rPr sz="1100" b="1">
                <a:solidFill>
                  <a:srgbClr val="E87722"/>
                </a:solidFill>
                <a:latin typeface="Helvetica Neue"/>
              </a:rPr>
              <a:t>RECOMMENDATION</a:t>
            </a:r>
          </a:p>
        </p:txBody>
      </p:sp>
      <p:sp>
        <p:nvSpPr>
          <p:cNvPr id="7" name="TextBox 6"/>
          <p:cNvSpPr txBox="1"/>
          <p:nvPr/>
        </p:nvSpPr>
        <p:spPr>
          <a:xfrm>
            <a:off x="502920" y="1828800"/>
            <a:ext cx="11185855" cy="640080"/>
          </a:xfrm>
          <a:prstGeom prst="rect">
            <a:avLst/>
          </a:prstGeom>
          <a:noFill/>
        </p:spPr>
        <p:txBody>
          <a:bodyPr wrap="none">
            <a:spAutoFit/>
          </a:bodyPr>
          <a:lstStyle/>
          <a:p>
            <a:r>
              <a:rPr sz="2200" b="1">
                <a:solidFill>
                  <a:srgbClr val="0E1116"/>
                </a:solidFill>
                <a:latin typeface="Helvetica Neue"/>
              </a:rPr>
              <a:t>Pool $100k · Hybrid milestone-grants + small prizes + Aquarium</a:t>
            </a:r>
          </a:p>
        </p:txBody>
      </p:sp>
      <p:sp>
        <p:nvSpPr>
          <p:cNvPr id="8" name="TextBox 7"/>
          <p:cNvSpPr txBox="1"/>
          <p:nvPr/>
        </p:nvSpPr>
        <p:spPr>
          <a:xfrm>
            <a:off x="502920" y="2468880"/>
            <a:ext cx="11185855" cy="457200"/>
          </a:xfrm>
          <a:prstGeom prst="rect">
            <a:avLst/>
          </a:prstGeom>
          <a:noFill/>
        </p:spPr>
        <p:txBody>
          <a:bodyPr wrap="none">
            <a:spAutoFit/>
          </a:bodyPr>
          <a:lstStyle/>
          <a:p>
            <a:r>
              <a:rPr sz="1400" b="0">
                <a:solidFill>
                  <a:srgbClr val="58605A"/>
                </a:solidFill>
                <a:latin typeface="Helvetica Neue"/>
              </a:rPr>
              <a:t>2026 annual dedicated budget — $100k structured in 3 brackets: $50k in major milestone-grants ($10k × 5) + $50k in small prizes (€500 × up to 100 projects) + Aquarium access for 1st place.</a:t>
            </a:r>
          </a:p>
        </p:txBody>
      </p:sp>
      <p:sp>
        <p:nvSpPr>
          <p:cNvPr id="9" name="TextBox 8"/>
          <p:cNvSpPr txBox="1"/>
          <p:nvPr/>
        </p:nvSpPr>
        <p:spPr>
          <a:xfrm>
            <a:off x="502920" y="2971800"/>
            <a:ext cx="11185855" cy="1371600"/>
          </a:xfrm>
          <a:prstGeom prst="rect">
            <a:avLst/>
          </a:prstGeom>
          <a:noFill/>
        </p:spPr>
        <p:txBody>
          <a:bodyPr wrap="square">
            <a:spAutoFit/>
          </a:bodyPr>
          <a:lstStyle/>
          <a:p>
            <a:r>
              <a:rPr sz="1300" b="0">
                <a:solidFill>
                  <a:srgbClr val="0E1116"/>
                </a:solidFill>
                <a:latin typeface="Helvetica Neue"/>
              </a:rPr>
              <a:t>Filters out polished demos, rewards real traction (mainnet + users + volume). Inspired by the "RFS + live traction" model (Florence interview).</a:t>
            </a:r>
          </a:p>
        </p:txBody>
      </p:sp>
      <p:sp>
        <p:nvSpPr>
          <p:cNvPr id="10" name="TextBox 9"/>
          <p:cNvSpPr txBox="1"/>
          <p:nvPr/>
        </p:nvSpPr>
        <p:spPr>
          <a:xfrm>
            <a:off x="502920" y="3773424"/>
            <a:ext cx="11185855" cy="2286000"/>
          </a:xfrm>
          <a:prstGeom prst="rect">
            <a:avLst/>
          </a:prstGeom>
          <a:noFill/>
        </p:spPr>
        <p:txBody>
          <a:bodyPr wrap="square">
            <a:spAutoFit/>
          </a:bodyPr>
          <a:lstStyle/>
          <a:p>
            <a:pPr>
              <a:spcAft>
                <a:spcPts val="400"/>
              </a:spcAft>
            </a:pPr>
            <a:r>
              <a:rPr sz="1200">
                <a:solidFill>
                  <a:srgbClr val="0E1116"/>
                </a:solidFill>
                <a:latin typeface="Helvetica Neue"/>
              </a:rPr>
              <a:t>• Project deployed on XRPL mainnet by day 30</a:t>
            </a:r>
          </a:p>
          <a:p>
            <a:pPr>
              <a:spcAft>
                <a:spcPts val="400"/>
              </a:spcAft>
            </a:pPr>
            <a:r>
              <a:rPr sz="1200">
                <a:solidFill>
                  <a:srgbClr val="0E1116"/>
                </a:solidFill>
                <a:latin typeface="Helvetica Neue"/>
              </a:rPr>
              <a:t>• Measurable on-chain activity by day 30 via SourceTag: volume · transactions · unique addresses</a:t>
            </a:r>
          </a:p>
        </p:txBody>
      </p:sp>
      <p:sp>
        <p:nvSpPr>
          <p:cNvPr id="11" name="TextBox 10"/>
          <p:cNvSpPr txBox="1"/>
          <p:nvPr/>
        </p:nvSpPr>
        <p:spPr>
          <a:xfrm>
            <a:off x="502920" y="6446520"/>
            <a:ext cx="11185855" cy="274320"/>
          </a:xfrm>
          <a:prstGeom prst="rect">
            <a:avLst/>
          </a:prstGeom>
          <a:noFill/>
        </p:spPr>
        <p:txBody>
          <a:bodyPr wrap="none">
            <a:spAutoFit/>
          </a:bodyPr>
          <a:lstStyle/>
          <a:p>
            <a:pPr algn="l"/>
            <a:r>
              <a:rPr sz="900">
                <a:solidFill>
                  <a:srgbClr val="58605A"/>
                </a:solidFill>
                <a:latin typeface="Helvetica Neue"/>
              </a:rPr>
              <a:t>xrpl-builder.vercel.app/en/buildathon</a:t>
            </a:r>
          </a:p>
        </p:txBody>
      </p:sp>
      <p:sp>
        <p:nvSpPr>
          <p:cNvPr id="12" name="TextBox 11"/>
          <p:cNvSpPr txBox="1"/>
          <p:nvPr/>
        </p:nvSpPr>
        <p:spPr>
          <a:xfrm>
            <a:off x="10820095" y="6446520"/>
            <a:ext cx="1097280" cy="274320"/>
          </a:xfrm>
          <a:prstGeom prst="rect">
            <a:avLst/>
          </a:prstGeom>
          <a:noFill/>
        </p:spPr>
        <p:txBody>
          <a:bodyPr wrap="none">
            <a:spAutoFit/>
          </a:bodyPr>
          <a:lstStyle/>
          <a:p>
            <a:pPr algn="r"/>
            <a:r>
              <a:rPr sz="900">
                <a:solidFill>
                  <a:srgbClr val="58605A"/>
                </a:solidFill>
                <a:latin typeface="Helvetica Neue"/>
              </a:rPr>
              <a:t>6/12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0"/>
            <a:ext cx="11963095" cy="1280160"/>
          </a:xfrm>
          <a:prstGeom prst="rect">
            <a:avLst/>
          </a:prstGeom>
          <a:solidFill>
            <a:srgbClr val="EC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2743200" cy="365760"/>
          </a:xfrm>
          <a:prstGeom prst="rect">
            <a:avLst/>
          </a:prstGeom>
          <a:noFill/>
        </p:spPr>
        <p:txBody>
          <a:bodyPr wrap="none">
            <a:spAutoFit/>
          </a:bodyPr>
          <a:lstStyle/>
          <a:p>
            <a:r>
              <a:rPr sz="1100" b="1">
                <a:solidFill>
                  <a:srgbClr val="58605A"/>
                </a:solidFill>
                <a:latin typeface="Helvetica Neue"/>
              </a:rPr>
              <a:t>SECTION 06</a:t>
            </a:r>
          </a:p>
        </p:txBody>
      </p:sp>
      <p:sp>
        <p:nvSpPr>
          <p:cNvPr id="5" name="TextBox 4"/>
          <p:cNvSpPr txBox="1"/>
          <p:nvPr/>
        </p:nvSpPr>
        <p:spPr>
          <a:xfrm>
            <a:off x="502920" y="594360"/>
            <a:ext cx="11185855" cy="685800"/>
          </a:xfrm>
          <a:prstGeom prst="rect">
            <a:avLst/>
          </a:prstGeom>
          <a:noFill/>
        </p:spPr>
        <p:txBody>
          <a:bodyPr wrap="none">
            <a:spAutoFit/>
          </a:bodyPr>
          <a:lstStyle/>
          <a:p>
            <a:r>
              <a:rPr sz="2600" b="1">
                <a:solidFill>
                  <a:srgbClr val="0E1116"/>
                </a:solidFill>
                <a:latin typeface="Helvetica Neue"/>
              </a:rPr>
              <a:t>Jury composition — who decides?</a:t>
            </a:r>
          </a:p>
        </p:txBody>
      </p:sp>
      <p:sp>
        <p:nvSpPr>
          <p:cNvPr id="6" name="TextBox 5"/>
          <p:cNvSpPr txBox="1"/>
          <p:nvPr/>
        </p:nvSpPr>
        <p:spPr>
          <a:xfrm>
            <a:off x="502920" y="1554480"/>
            <a:ext cx="2743200" cy="365760"/>
          </a:xfrm>
          <a:prstGeom prst="rect">
            <a:avLst/>
          </a:prstGeom>
          <a:noFill/>
        </p:spPr>
        <p:txBody>
          <a:bodyPr wrap="none">
            <a:spAutoFit/>
          </a:bodyPr>
          <a:lstStyle/>
          <a:p>
            <a:r>
              <a:rPr sz="1100" b="1">
                <a:solidFill>
                  <a:srgbClr val="E87722"/>
                </a:solidFill>
                <a:latin typeface="Helvetica Neue"/>
              </a:rPr>
              <a:t>RECOMMENDATION</a:t>
            </a:r>
          </a:p>
        </p:txBody>
      </p:sp>
      <p:sp>
        <p:nvSpPr>
          <p:cNvPr id="7" name="TextBox 6"/>
          <p:cNvSpPr txBox="1"/>
          <p:nvPr/>
        </p:nvSpPr>
        <p:spPr>
          <a:xfrm>
            <a:off x="502920" y="1828800"/>
            <a:ext cx="11185855" cy="640080"/>
          </a:xfrm>
          <a:prstGeom prst="rect">
            <a:avLst/>
          </a:prstGeom>
          <a:noFill/>
        </p:spPr>
        <p:txBody>
          <a:bodyPr wrap="none">
            <a:spAutoFit/>
          </a:bodyPr>
          <a:lstStyle/>
          <a:p>
            <a:r>
              <a:rPr sz="2200" b="1">
                <a:solidFill>
                  <a:srgbClr val="0E1116"/>
                </a:solidFill>
                <a:latin typeface="Helvetica Neue"/>
              </a:rPr>
              <a:t>XRPL Commons team · composition to be finalized</a:t>
            </a:r>
          </a:p>
        </p:txBody>
      </p:sp>
      <p:sp>
        <p:nvSpPr>
          <p:cNvPr id="8" name="TextBox 7"/>
          <p:cNvSpPr txBox="1"/>
          <p:nvPr/>
        </p:nvSpPr>
        <p:spPr>
          <a:xfrm>
            <a:off x="502920" y="2468880"/>
            <a:ext cx="11185855" cy="457200"/>
          </a:xfrm>
          <a:prstGeom prst="rect">
            <a:avLst/>
          </a:prstGeom>
          <a:noFill/>
        </p:spPr>
        <p:txBody>
          <a:bodyPr wrap="none">
            <a:spAutoFit/>
          </a:bodyPr>
          <a:lstStyle/>
          <a:p>
            <a:r>
              <a:rPr sz="1400" b="0">
                <a:solidFill>
                  <a:srgbClr val="58605A"/>
                </a:solidFill>
                <a:latin typeface="Helvetica Neue"/>
              </a:rPr>
              <a:t>Single-organization jury — clean ownership, fast decisions. Names finalized internally.</a:t>
            </a:r>
          </a:p>
        </p:txBody>
      </p:sp>
      <p:sp>
        <p:nvSpPr>
          <p:cNvPr id="9" name="TextBox 8"/>
          <p:cNvSpPr txBox="1"/>
          <p:nvPr/>
        </p:nvSpPr>
        <p:spPr>
          <a:xfrm>
            <a:off x="502920" y="2971800"/>
            <a:ext cx="11185855" cy="1371600"/>
          </a:xfrm>
          <a:prstGeom prst="rect">
            <a:avLst/>
          </a:prstGeom>
          <a:noFill/>
        </p:spPr>
        <p:txBody>
          <a:bodyPr wrap="square">
            <a:spAutoFit/>
          </a:bodyPr>
          <a:lstStyle/>
          <a:p>
            <a:r>
              <a:rPr sz="1300" b="0">
                <a:solidFill>
                  <a:srgbClr val="0E1116"/>
                </a:solidFill>
                <a:latin typeface="Helvetica Neue"/>
              </a:rPr>
              <a:t>The XRPL Commons team runs the jury alone. Knows the builders, owns the roadmap, the program quality and the Section 07 criteria evaluation. No coordination overhead, no scheduling nightmare, clear accountability if a result is contested. Exact composition (titular jurors + alternates) decided internally, no public announcement of names.</a:t>
            </a:r>
          </a:p>
        </p:txBody>
      </p:sp>
      <p:sp>
        <p:nvSpPr>
          <p:cNvPr id="10" name="TextBox 9"/>
          <p:cNvSpPr txBox="1"/>
          <p:nvPr/>
        </p:nvSpPr>
        <p:spPr>
          <a:xfrm>
            <a:off x="502920" y="4343400"/>
            <a:ext cx="11185855" cy="2286000"/>
          </a:xfrm>
          <a:prstGeom prst="rect">
            <a:avLst/>
          </a:prstGeom>
          <a:noFill/>
        </p:spPr>
        <p:txBody>
          <a:bodyPr wrap="square">
            <a:spAutoFit/>
          </a:bodyPr>
          <a:lstStyle/>
          <a:p>
            <a:pPr>
              <a:spcAft>
                <a:spcPts val="400"/>
              </a:spcAft>
            </a:pPr>
            <a:r>
              <a:rPr sz="1200">
                <a:solidFill>
                  <a:srgbClr val="0E1116"/>
                </a:solidFill>
                <a:latin typeface="Helvetica Neue"/>
              </a:rPr>
              <a:t>• Pros: simple, fast, clear ownership, no scheduling friction</a:t>
            </a:r>
          </a:p>
          <a:p>
            <a:pPr>
              <a:spcAft>
                <a:spcPts val="400"/>
              </a:spcAft>
            </a:pPr>
            <a:r>
              <a:rPr sz="1200">
                <a:solidFill>
                  <a:srgbClr val="0E1116"/>
                </a:solidFill>
                <a:latin typeface="Helvetica Neue"/>
              </a:rPr>
              <a:t>• Cons: no external advocacy/accountability balance — risk of being seen as too internal (mitigated by the transparency of Section 07 criteria and the public M1/M2 milestones validation)</a:t>
            </a:r>
          </a:p>
        </p:txBody>
      </p:sp>
      <p:sp>
        <p:nvSpPr>
          <p:cNvPr id="11" name="TextBox 10"/>
          <p:cNvSpPr txBox="1"/>
          <p:nvPr/>
        </p:nvSpPr>
        <p:spPr>
          <a:xfrm>
            <a:off x="502920" y="6446520"/>
            <a:ext cx="11185855" cy="274320"/>
          </a:xfrm>
          <a:prstGeom prst="rect">
            <a:avLst/>
          </a:prstGeom>
          <a:noFill/>
        </p:spPr>
        <p:txBody>
          <a:bodyPr wrap="none">
            <a:spAutoFit/>
          </a:bodyPr>
          <a:lstStyle/>
          <a:p>
            <a:pPr algn="l"/>
            <a:r>
              <a:rPr sz="900">
                <a:solidFill>
                  <a:srgbClr val="58605A"/>
                </a:solidFill>
                <a:latin typeface="Helvetica Neue"/>
              </a:rPr>
              <a:t>xrpl-builder.vercel.app/en/buildathon</a:t>
            </a:r>
          </a:p>
        </p:txBody>
      </p:sp>
      <p:sp>
        <p:nvSpPr>
          <p:cNvPr id="12" name="TextBox 11"/>
          <p:cNvSpPr txBox="1"/>
          <p:nvPr/>
        </p:nvSpPr>
        <p:spPr>
          <a:xfrm>
            <a:off x="10820095" y="6446520"/>
            <a:ext cx="1097280" cy="274320"/>
          </a:xfrm>
          <a:prstGeom prst="rect">
            <a:avLst/>
          </a:prstGeom>
          <a:noFill/>
        </p:spPr>
        <p:txBody>
          <a:bodyPr wrap="none">
            <a:spAutoFit/>
          </a:bodyPr>
          <a:lstStyle/>
          <a:p>
            <a:pPr algn="r"/>
            <a:r>
              <a:rPr sz="900">
                <a:solidFill>
                  <a:srgbClr val="58605A"/>
                </a:solidFill>
                <a:latin typeface="Helvetica Neue"/>
              </a:rPr>
              <a:t>7/12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0"/>
            <a:ext cx="11963095" cy="1280160"/>
          </a:xfrm>
          <a:prstGeom prst="rect">
            <a:avLst/>
          </a:prstGeom>
          <a:solidFill>
            <a:srgbClr val="EC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2743200" cy="365760"/>
          </a:xfrm>
          <a:prstGeom prst="rect">
            <a:avLst/>
          </a:prstGeom>
          <a:noFill/>
        </p:spPr>
        <p:txBody>
          <a:bodyPr wrap="none">
            <a:spAutoFit/>
          </a:bodyPr>
          <a:lstStyle/>
          <a:p>
            <a:r>
              <a:rPr sz="1100" b="1">
                <a:solidFill>
                  <a:srgbClr val="58605A"/>
                </a:solidFill>
                <a:latin typeface="Helvetica Neue"/>
              </a:rPr>
              <a:t>SECTION 07</a:t>
            </a:r>
          </a:p>
        </p:txBody>
      </p:sp>
      <p:sp>
        <p:nvSpPr>
          <p:cNvPr id="5" name="TextBox 4"/>
          <p:cNvSpPr txBox="1"/>
          <p:nvPr/>
        </p:nvSpPr>
        <p:spPr>
          <a:xfrm>
            <a:off x="502920" y="594360"/>
            <a:ext cx="11185855" cy="685800"/>
          </a:xfrm>
          <a:prstGeom prst="rect">
            <a:avLst/>
          </a:prstGeom>
          <a:noFill/>
        </p:spPr>
        <p:txBody>
          <a:bodyPr wrap="none">
            <a:spAutoFit/>
          </a:bodyPr>
          <a:lstStyle/>
          <a:p>
            <a:r>
              <a:rPr sz="2600" b="1">
                <a:solidFill>
                  <a:srgbClr val="0E1116"/>
                </a:solidFill>
                <a:latin typeface="Helvetica Neue"/>
              </a:rPr>
              <a:t>Judging criteria — how is "winning" measured?</a:t>
            </a:r>
          </a:p>
        </p:txBody>
      </p:sp>
      <p:sp>
        <p:nvSpPr>
          <p:cNvPr id="6" name="TextBox 5"/>
          <p:cNvSpPr txBox="1"/>
          <p:nvPr/>
        </p:nvSpPr>
        <p:spPr>
          <a:xfrm>
            <a:off x="502920" y="1554480"/>
            <a:ext cx="2743200" cy="365760"/>
          </a:xfrm>
          <a:prstGeom prst="rect">
            <a:avLst/>
          </a:prstGeom>
          <a:noFill/>
        </p:spPr>
        <p:txBody>
          <a:bodyPr wrap="none">
            <a:spAutoFit/>
          </a:bodyPr>
          <a:lstStyle/>
          <a:p>
            <a:r>
              <a:rPr sz="1100" b="1">
                <a:solidFill>
                  <a:srgbClr val="E87722"/>
                </a:solidFill>
                <a:latin typeface="Helvetica Neue"/>
              </a:rPr>
              <a:t>RECOMMENDATION</a:t>
            </a:r>
          </a:p>
        </p:txBody>
      </p:sp>
      <p:sp>
        <p:nvSpPr>
          <p:cNvPr id="7" name="TextBox 6"/>
          <p:cNvSpPr txBox="1"/>
          <p:nvPr/>
        </p:nvSpPr>
        <p:spPr>
          <a:xfrm>
            <a:off x="502920" y="1828800"/>
            <a:ext cx="11185855" cy="640080"/>
          </a:xfrm>
          <a:prstGeom prst="rect">
            <a:avLst/>
          </a:prstGeom>
          <a:noFill/>
        </p:spPr>
        <p:txBody>
          <a:bodyPr wrap="none">
            <a:spAutoFit/>
          </a:bodyPr>
          <a:lstStyle/>
          <a:p>
            <a:r>
              <a:rPr sz="2200" b="1">
                <a:solidFill>
                  <a:srgbClr val="0E1116"/>
                </a:solidFill>
                <a:latin typeface="Helvetica Neue"/>
              </a:rPr>
              <a:t>2-step judging — Binary gate, then bracket-specific scoring</a:t>
            </a:r>
          </a:p>
        </p:txBody>
      </p:sp>
      <p:sp>
        <p:nvSpPr>
          <p:cNvPr id="8" name="TextBox 7"/>
          <p:cNvSpPr txBox="1"/>
          <p:nvPr/>
        </p:nvSpPr>
        <p:spPr>
          <a:xfrm>
            <a:off x="502920" y="2468880"/>
            <a:ext cx="11185855" cy="457200"/>
          </a:xfrm>
          <a:prstGeom prst="rect">
            <a:avLst/>
          </a:prstGeom>
          <a:noFill/>
        </p:spPr>
        <p:txBody>
          <a:bodyPr wrap="none">
            <a:spAutoFit/>
          </a:bodyPr>
          <a:lstStyle/>
          <a:p>
            <a:r>
              <a:rPr sz="1400" b="0">
                <a:solidFill>
                  <a:srgbClr val="58605A"/>
                </a:solidFill>
                <a:latin typeface="Helvetica Neue"/>
              </a:rPr>
              <a:t>Criteria apply differently depending on the prize bracket (small prizes vs major milestone-grants). All published to candidates upfront.</a:t>
            </a:r>
          </a:p>
        </p:txBody>
      </p:sp>
      <p:sp>
        <p:nvSpPr>
          <p:cNvPr id="9" name="TextBox 8"/>
          <p:cNvSpPr txBox="1"/>
          <p:nvPr/>
        </p:nvSpPr>
        <p:spPr>
          <a:xfrm>
            <a:off x="502920" y="2971800"/>
            <a:ext cx="11185855" cy="1371600"/>
          </a:xfrm>
          <a:prstGeom prst="rect">
            <a:avLst/>
          </a:prstGeom>
          <a:noFill/>
        </p:spPr>
        <p:txBody>
          <a:bodyPr wrap="square">
            <a:spAutoFit/>
          </a:bodyPr>
          <a:lstStyle/>
          <a:p>
            <a:r>
              <a:rPr sz="1300" b="0">
                <a:solidFill>
                  <a:srgbClr val="0E1116"/>
                </a:solidFill>
                <a:latin typeface="Helvetica Neue"/>
              </a:rPr>
              <a:t>All-or-nothing criteria by Day 30. Without these 2 conditions, no prize is awarded (cf. Section 05):</a:t>
            </a:r>
          </a:p>
        </p:txBody>
      </p:sp>
      <p:sp>
        <p:nvSpPr>
          <p:cNvPr id="10" name="TextBox 9"/>
          <p:cNvSpPr txBox="1"/>
          <p:nvPr/>
        </p:nvSpPr>
        <p:spPr>
          <a:xfrm>
            <a:off x="502920" y="3642360"/>
            <a:ext cx="11185855" cy="2286000"/>
          </a:xfrm>
          <a:prstGeom prst="rect">
            <a:avLst/>
          </a:prstGeom>
          <a:noFill/>
        </p:spPr>
        <p:txBody>
          <a:bodyPr wrap="square">
            <a:spAutoFit/>
          </a:bodyPr>
          <a:lstStyle/>
          <a:p>
            <a:pPr>
              <a:spcAft>
                <a:spcPts val="400"/>
              </a:spcAft>
            </a:pPr>
            <a:r>
              <a:rPr sz="1200">
                <a:solidFill>
                  <a:srgbClr val="0E1116"/>
                </a:solidFill>
                <a:latin typeface="Helvetica Neue"/>
              </a:rPr>
              <a:t>• Mainnet deployment — project deployed and accessible on XRPL mainnet, source code published (or justified if proprietary)</a:t>
            </a:r>
          </a:p>
          <a:p>
            <a:pPr>
              <a:spcAft>
                <a:spcPts val="400"/>
              </a:spcAft>
            </a:pPr>
            <a:r>
              <a:rPr sz="1200">
                <a:solidFill>
                  <a:srgbClr val="0E1116"/>
                </a:solidFill>
                <a:latin typeface="Helvetica Neue"/>
              </a:rPr>
              <a:t>• Measurable on-chain activity via SourceTag — at least 1 real transaction attributable to the project via SourceTag, verifiable by the jury on XRPL explorer</a:t>
            </a:r>
          </a:p>
        </p:txBody>
      </p:sp>
      <p:sp>
        <p:nvSpPr>
          <p:cNvPr id="11" name="TextBox 10"/>
          <p:cNvSpPr txBox="1"/>
          <p:nvPr/>
        </p:nvSpPr>
        <p:spPr>
          <a:xfrm>
            <a:off x="502920" y="6446520"/>
            <a:ext cx="11185855" cy="274320"/>
          </a:xfrm>
          <a:prstGeom prst="rect">
            <a:avLst/>
          </a:prstGeom>
          <a:noFill/>
        </p:spPr>
        <p:txBody>
          <a:bodyPr wrap="none">
            <a:spAutoFit/>
          </a:bodyPr>
          <a:lstStyle/>
          <a:p>
            <a:pPr algn="l"/>
            <a:r>
              <a:rPr sz="900">
                <a:solidFill>
                  <a:srgbClr val="58605A"/>
                </a:solidFill>
                <a:latin typeface="Helvetica Neue"/>
              </a:rPr>
              <a:t>xrpl-builder.vercel.app/en/buildathon</a:t>
            </a:r>
          </a:p>
        </p:txBody>
      </p:sp>
      <p:sp>
        <p:nvSpPr>
          <p:cNvPr id="12" name="TextBox 11"/>
          <p:cNvSpPr txBox="1"/>
          <p:nvPr/>
        </p:nvSpPr>
        <p:spPr>
          <a:xfrm>
            <a:off x="10820095" y="6446520"/>
            <a:ext cx="1097280" cy="274320"/>
          </a:xfrm>
          <a:prstGeom prst="rect">
            <a:avLst/>
          </a:prstGeom>
          <a:noFill/>
        </p:spPr>
        <p:txBody>
          <a:bodyPr wrap="none">
            <a:spAutoFit/>
          </a:bodyPr>
          <a:lstStyle/>
          <a:p>
            <a:pPr algn="r"/>
            <a:r>
              <a:rPr sz="900">
                <a:solidFill>
                  <a:srgbClr val="58605A"/>
                </a:solidFill>
                <a:latin typeface="Helvetica Neue"/>
              </a:rPr>
              <a:t>8/12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0"/>
            <a:ext cx="11963095" cy="1280160"/>
          </a:xfrm>
          <a:prstGeom prst="rect">
            <a:avLst/>
          </a:prstGeom>
          <a:solidFill>
            <a:srgbClr val="EC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2743200" cy="365760"/>
          </a:xfrm>
          <a:prstGeom prst="rect">
            <a:avLst/>
          </a:prstGeom>
          <a:noFill/>
        </p:spPr>
        <p:txBody>
          <a:bodyPr wrap="none">
            <a:spAutoFit/>
          </a:bodyPr>
          <a:lstStyle/>
          <a:p>
            <a:r>
              <a:rPr sz="1100" b="1">
                <a:solidFill>
                  <a:srgbClr val="58605A"/>
                </a:solidFill>
                <a:latin typeface="Helvetica Neue"/>
              </a:rPr>
              <a:t>SECTION 08</a:t>
            </a:r>
          </a:p>
        </p:txBody>
      </p:sp>
      <p:sp>
        <p:nvSpPr>
          <p:cNvPr id="5" name="TextBox 4"/>
          <p:cNvSpPr txBox="1"/>
          <p:nvPr/>
        </p:nvSpPr>
        <p:spPr>
          <a:xfrm>
            <a:off x="502920" y="594360"/>
            <a:ext cx="11185855" cy="685800"/>
          </a:xfrm>
          <a:prstGeom prst="rect">
            <a:avLst/>
          </a:prstGeom>
          <a:noFill/>
        </p:spPr>
        <p:txBody>
          <a:bodyPr wrap="none">
            <a:spAutoFit/>
          </a:bodyPr>
          <a:lstStyle/>
          <a:p>
            <a:r>
              <a:rPr sz="2600" b="1">
                <a:solidFill>
                  <a:srgbClr val="0E1116"/>
                </a:solidFill>
                <a:latin typeface="Helvetica Neue"/>
              </a:rPr>
              <a:t>Team composition — size &amp; profile?</a:t>
            </a:r>
          </a:p>
        </p:txBody>
      </p:sp>
      <p:sp>
        <p:nvSpPr>
          <p:cNvPr id="6" name="TextBox 5"/>
          <p:cNvSpPr txBox="1"/>
          <p:nvPr/>
        </p:nvSpPr>
        <p:spPr>
          <a:xfrm>
            <a:off x="502920" y="1554480"/>
            <a:ext cx="2743200" cy="365760"/>
          </a:xfrm>
          <a:prstGeom prst="rect">
            <a:avLst/>
          </a:prstGeom>
          <a:noFill/>
        </p:spPr>
        <p:txBody>
          <a:bodyPr wrap="none">
            <a:spAutoFit/>
          </a:bodyPr>
          <a:lstStyle/>
          <a:p>
            <a:r>
              <a:rPr sz="1100" b="1">
                <a:solidFill>
                  <a:srgbClr val="E87722"/>
                </a:solidFill>
                <a:latin typeface="Helvetica Neue"/>
              </a:rPr>
              <a:t>RECOMMENDATION</a:t>
            </a:r>
          </a:p>
        </p:txBody>
      </p:sp>
      <p:sp>
        <p:nvSpPr>
          <p:cNvPr id="7" name="TextBox 6"/>
          <p:cNvSpPr txBox="1"/>
          <p:nvPr/>
        </p:nvSpPr>
        <p:spPr>
          <a:xfrm>
            <a:off x="502920" y="1828800"/>
            <a:ext cx="11185855" cy="640080"/>
          </a:xfrm>
          <a:prstGeom prst="rect">
            <a:avLst/>
          </a:prstGeom>
          <a:noFill/>
        </p:spPr>
        <p:txBody>
          <a:bodyPr wrap="none">
            <a:spAutoFit/>
          </a:bodyPr>
          <a:lstStyle/>
          <a:p>
            <a:r>
              <a:rPr sz="2200" b="1">
                <a:solidFill>
                  <a:srgbClr val="0E1116"/>
                </a:solidFill>
                <a:latin typeface="Helvetica Neue"/>
              </a:rPr>
              <a:t>Solo or team — no minimum, no maximum, no profile requirements</a:t>
            </a:r>
          </a:p>
        </p:txBody>
      </p:sp>
      <p:sp>
        <p:nvSpPr>
          <p:cNvPr id="8" name="TextBox 7"/>
          <p:cNvSpPr txBox="1"/>
          <p:nvPr/>
        </p:nvSpPr>
        <p:spPr>
          <a:xfrm>
            <a:off x="502920" y="2468880"/>
            <a:ext cx="11185855" cy="457200"/>
          </a:xfrm>
          <a:prstGeom prst="rect">
            <a:avLst/>
          </a:prstGeom>
          <a:noFill/>
        </p:spPr>
        <p:txBody>
          <a:bodyPr wrap="none">
            <a:spAutoFit/>
          </a:bodyPr>
          <a:lstStyle/>
          <a:p>
            <a:r>
              <a:rPr sz="1400" b="0">
                <a:solidFill>
                  <a:srgbClr val="58605A"/>
                </a:solidFill>
                <a:latin typeface="Helvetica Neue"/>
              </a:rPr>
              <a:t>Maximum accessibility — anyone can apply, alone or with any cofounders. No prior profile required.</a:t>
            </a:r>
          </a:p>
        </p:txBody>
      </p:sp>
      <p:sp>
        <p:nvSpPr>
          <p:cNvPr id="9" name="TextBox 8"/>
          <p:cNvSpPr txBox="1"/>
          <p:nvPr/>
        </p:nvSpPr>
        <p:spPr>
          <a:xfrm>
            <a:off x="502920" y="2971800"/>
            <a:ext cx="11185855" cy="2286000"/>
          </a:xfrm>
          <a:prstGeom prst="rect">
            <a:avLst/>
          </a:prstGeom>
          <a:noFill/>
        </p:spPr>
        <p:txBody>
          <a:bodyPr wrap="square">
            <a:spAutoFit/>
          </a:bodyPr>
          <a:lstStyle/>
          <a:p>
            <a:pPr>
              <a:spcAft>
                <a:spcPts val="400"/>
              </a:spcAft>
            </a:pPr>
            <a:r>
              <a:rPr sz="1200">
                <a:solidFill>
                  <a:srgbClr val="0E1116"/>
                </a:solidFill>
                <a:latin typeface="Helvetica Neue"/>
              </a:rPr>
              <a:t>• No minimum — solo applicants are welcome and eligible for all prize tiers (small prizes + major milestone-grants + Aquarium access)</a:t>
            </a:r>
          </a:p>
          <a:p>
            <a:pPr>
              <a:spcAft>
                <a:spcPts val="400"/>
              </a:spcAft>
            </a:pPr>
            <a:r>
              <a:rPr sz="1200">
                <a:solidFill>
                  <a:srgbClr val="0E1116"/>
                </a:solidFill>
                <a:latin typeface="Helvetica Neue"/>
              </a:rPr>
              <a:t>• No maximum — teams of any size can apply</a:t>
            </a:r>
          </a:p>
          <a:p>
            <a:pPr>
              <a:spcAft>
                <a:spcPts val="400"/>
              </a:spcAft>
            </a:pPr>
            <a:r>
              <a:rPr sz="1200">
                <a:solidFill>
                  <a:srgbClr val="0E1116"/>
                </a:solidFill>
                <a:latin typeface="Helvetica Neue"/>
              </a:rPr>
              <a:t>• No profile required — no minimum XRPL experience, no minimum crypto experience, no seniority required. If you can build, you're eligible.</a:t>
            </a:r>
          </a:p>
          <a:p>
            <a:pPr>
              <a:spcAft>
                <a:spcPts val="400"/>
              </a:spcAft>
            </a:pPr>
            <a:r>
              <a:rPr sz="1200">
                <a:solidFill>
                  <a:srgbClr val="0E1116"/>
                </a:solidFill>
                <a:latin typeface="Helvetica Neue"/>
              </a:rPr>
              <a:t>• Geographic diversity encouraged — fully online format + optional 1 IRL day/week at the Commons House (Paris) means anyone, anywhere can compete</a:t>
            </a:r>
          </a:p>
          <a:p>
            <a:pPr>
              <a:spcAft>
                <a:spcPts val="400"/>
              </a:spcAft>
            </a:pPr>
            <a:r>
              <a:rPr sz="1200">
                <a:solidFill>
                  <a:srgbClr val="0E1116"/>
                </a:solidFill>
                <a:latin typeface="Helvetica Neue"/>
              </a:rPr>
              <a:t>• Aquarium / Hackathon alumni are eligible for all prizes without distinction (the former "From the community" prize was removed)</a:t>
            </a:r>
          </a:p>
        </p:txBody>
      </p:sp>
      <p:sp>
        <p:nvSpPr>
          <p:cNvPr id="10" name="TextBox 9"/>
          <p:cNvSpPr txBox="1"/>
          <p:nvPr/>
        </p:nvSpPr>
        <p:spPr>
          <a:xfrm>
            <a:off x="502920" y="6446520"/>
            <a:ext cx="11185855" cy="274320"/>
          </a:xfrm>
          <a:prstGeom prst="rect">
            <a:avLst/>
          </a:prstGeom>
          <a:noFill/>
        </p:spPr>
        <p:txBody>
          <a:bodyPr wrap="none">
            <a:spAutoFit/>
          </a:bodyPr>
          <a:lstStyle/>
          <a:p>
            <a:pPr algn="l"/>
            <a:r>
              <a:rPr sz="900">
                <a:solidFill>
                  <a:srgbClr val="58605A"/>
                </a:solidFill>
                <a:latin typeface="Helvetica Neue"/>
              </a:rPr>
              <a:t>xrpl-builder.vercel.app/en/buildathon</a:t>
            </a:r>
          </a:p>
        </p:txBody>
      </p:sp>
      <p:sp>
        <p:nvSpPr>
          <p:cNvPr id="11" name="TextBox 10"/>
          <p:cNvSpPr txBox="1"/>
          <p:nvPr/>
        </p:nvSpPr>
        <p:spPr>
          <a:xfrm>
            <a:off x="10820095" y="6446520"/>
            <a:ext cx="1097280" cy="274320"/>
          </a:xfrm>
          <a:prstGeom prst="rect">
            <a:avLst/>
          </a:prstGeom>
          <a:noFill/>
        </p:spPr>
        <p:txBody>
          <a:bodyPr wrap="none">
            <a:spAutoFit/>
          </a:bodyPr>
          <a:lstStyle/>
          <a:p>
            <a:pPr algn="r"/>
            <a:r>
              <a:rPr sz="900">
                <a:solidFill>
                  <a:srgbClr val="58605A"/>
                </a:solidFill>
                <a:latin typeface="Helvetica Neue"/>
              </a:rPr>
              <a:t>9/12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0"/>
            <a:ext cx="11963095" cy="1280160"/>
          </a:xfrm>
          <a:prstGeom prst="rect">
            <a:avLst/>
          </a:prstGeom>
          <a:solidFill>
            <a:srgbClr val="EC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2743200" cy="365760"/>
          </a:xfrm>
          <a:prstGeom prst="rect">
            <a:avLst/>
          </a:prstGeom>
          <a:noFill/>
        </p:spPr>
        <p:txBody>
          <a:bodyPr wrap="none">
            <a:spAutoFit/>
          </a:bodyPr>
          <a:lstStyle/>
          <a:p>
            <a:r>
              <a:rPr sz="1100" b="1">
                <a:solidFill>
                  <a:srgbClr val="58605A"/>
                </a:solidFill>
                <a:latin typeface="Helvetica Neue"/>
              </a:rPr>
              <a:t>SECTION 09 · NEW</a:t>
            </a:r>
          </a:p>
        </p:txBody>
      </p:sp>
      <p:sp>
        <p:nvSpPr>
          <p:cNvPr id="5" name="TextBox 4"/>
          <p:cNvSpPr txBox="1"/>
          <p:nvPr/>
        </p:nvSpPr>
        <p:spPr>
          <a:xfrm>
            <a:off x="502920" y="594360"/>
            <a:ext cx="11185855" cy="685800"/>
          </a:xfrm>
          <a:prstGeom prst="rect">
            <a:avLst/>
          </a:prstGeom>
          <a:noFill/>
        </p:spPr>
        <p:txBody>
          <a:bodyPr wrap="none">
            <a:spAutoFit/>
          </a:bodyPr>
          <a:lstStyle/>
          <a:p>
            <a:r>
              <a:rPr sz="2600" b="1">
                <a:solidFill>
                  <a:srgbClr val="0E1116"/>
                </a:solidFill>
                <a:latin typeface="Helvetica Neue"/>
              </a:rPr>
              <a:t>Office Hours — team support during the build</a:t>
            </a:r>
          </a:p>
        </p:txBody>
      </p:sp>
      <p:sp>
        <p:nvSpPr>
          <p:cNvPr id="6" name="TextBox 5"/>
          <p:cNvSpPr txBox="1"/>
          <p:nvPr/>
        </p:nvSpPr>
        <p:spPr>
          <a:xfrm>
            <a:off x="502920" y="1554480"/>
            <a:ext cx="2743200" cy="365760"/>
          </a:xfrm>
          <a:prstGeom prst="rect">
            <a:avLst/>
          </a:prstGeom>
          <a:noFill/>
        </p:spPr>
        <p:txBody>
          <a:bodyPr wrap="none">
            <a:spAutoFit/>
          </a:bodyPr>
          <a:lstStyle/>
          <a:p>
            <a:r>
              <a:rPr sz="1100" b="1">
                <a:solidFill>
                  <a:srgbClr val="E87722"/>
                </a:solidFill>
                <a:latin typeface="Helvetica Neue"/>
              </a:rPr>
              <a:t>RECOMMENDATION</a:t>
            </a:r>
          </a:p>
        </p:txBody>
      </p:sp>
      <p:sp>
        <p:nvSpPr>
          <p:cNvPr id="7" name="TextBox 6"/>
          <p:cNvSpPr txBox="1"/>
          <p:nvPr/>
        </p:nvSpPr>
        <p:spPr>
          <a:xfrm>
            <a:off x="502920" y="1828800"/>
            <a:ext cx="11185855" cy="640080"/>
          </a:xfrm>
          <a:prstGeom prst="rect">
            <a:avLst/>
          </a:prstGeom>
          <a:noFill/>
        </p:spPr>
        <p:txBody>
          <a:bodyPr wrap="none">
            <a:spAutoFit/>
          </a:bodyPr>
          <a:lstStyle/>
          <a:p>
            <a:r>
              <a:rPr sz="2200" b="1">
                <a:solidFill>
                  <a:srgbClr val="0E1116"/>
                </a:solidFill>
                <a:latin typeface="Helvetica Neue"/>
              </a:rPr>
              <a:t>Weekly "ship + visibility" cadence + 2 fixed slots + 1 IRL day at the Commons House</a:t>
            </a:r>
          </a:p>
        </p:txBody>
      </p:sp>
      <p:sp>
        <p:nvSpPr>
          <p:cNvPr id="8" name="TextBox 7"/>
          <p:cNvSpPr txBox="1"/>
          <p:nvPr/>
        </p:nvSpPr>
        <p:spPr>
          <a:xfrm>
            <a:off x="502920" y="2468880"/>
            <a:ext cx="11185855" cy="457200"/>
          </a:xfrm>
          <a:prstGeom prst="rect">
            <a:avLst/>
          </a:prstGeom>
          <a:noFill/>
        </p:spPr>
        <p:txBody>
          <a:bodyPr wrap="none">
            <a:spAutoFit/>
          </a:bodyPr>
          <a:lstStyle/>
          <a:p>
            <a:r>
              <a:rPr sz="1400" b="0">
                <a:solidFill>
                  <a:srgbClr val="58605A"/>
                </a:solidFill>
                <a:latin typeface="Helvetica Neue"/>
              </a:rPr>
              <a:t>During the 4-week build phase (Day 1 → Day 28, 18 Jun → 15 Jul)</a:t>
            </a:r>
          </a:p>
        </p:txBody>
      </p:sp>
      <p:sp>
        <p:nvSpPr>
          <p:cNvPr id="9" name="TextBox 8"/>
          <p:cNvSpPr txBox="1"/>
          <p:nvPr/>
        </p:nvSpPr>
        <p:spPr>
          <a:xfrm>
            <a:off x="502920" y="2971800"/>
            <a:ext cx="11185855" cy="1371600"/>
          </a:xfrm>
          <a:prstGeom prst="rect">
            <a:avLst/>
          </a:prstGeom>
          <a:noFill/>
        </p:spPr>
        <p:txBody>
          <a:bodyPr wrap="square">
            <a:spAutoFit/>
          </a:bodyPr>
          <a:lstStyle/>
          <a:p>
            <a:r>
              <a:rPr sz="1300" b="0">
                <a:solidFill>
                  <a:srgbClr val="0E1116"/>
                </a:solidFill>
                <a:latin typeface="Helvetica Neue"/>
              </a:rPr>
              <a:t>🚢 Weekly Ship Cadence (Guillaume)</a:t>
            </a:r>
          </a:p>
        </p:txBody>
      </p:sp>
      <p:sp>
        <p:nvSpPr>
          <p:cNvPr id="10" name="TextBox 9"/>
          <p:cNvSpPr txBox="1"/>
          <p:nvPr/>
        </p:nvSpPr>
        <p:spPr>
          <a:xfrm>
            <a:off x="502920" y="3438144"/>
            <a:ext cx="11185855" cy="2286000"/>
          </a:xfrm>
          <a:prstGeom prst="rect">
            <a:avLst/>
          </a:prstGeom>
          <a:noFill/>
        </p:spPr>
        <p:txBody>
          <a:bodyPr wrap="square">
            <a:spAutoFit/>
          </a:bodyPr>
          <a:lstStyle/>
          <a:p>
            <a:pPr>
              <a:spcAft>
                <a:spcPts val="400"/>
              </a:spcAft>
            </a:pPr>
            <a:r>
              <a:rPr sz="1200">
                <a:solidFill>
                  <a:srgbClr val="0E1116"/>
                </a:solidFill>
                <a:latin typeface="Helvetica Neue"/>
              </a:rPr>
              <a:t>• Each team ships every week: (1) short video (60-120s) of progress · (2) single-slide deck · (3) user feedback on socials (X post with connected wallet + XRP profile for traceability)</a:t>
            </a:r>
          </a:p>
          <a:p>
            <a:pPr>
              <a:spcAft>
                <a:spcPts val="400"/>
              </a:spcAft>
            </a:pPr>
            <a:r>
              <a:rPr sz="1200">
                <a:solidFill>
                  <a:srgbClr val="0E1116"/>
                </a:solidFill>
                <a:latin typeface="Helvetica Neue"/>
              </a:rPr>
              <a:t>• XRPL Commons amplifies: weekly push of the top 5 or 10 on its channels + single public link to view all submissions</a:t>
            </a:r>
          </a:p>
          <a:p>
            <a:pPr>
              <a:spcAft>
                <a:spcPts val="400"/>
              </a:spcAft>
            </a:pPr>
            <a:r>
              <a:rPr sz="1200">
                <a:solidFill>
                  <a:srgbClr val="0E1116"/>
                </a:solidFill>
                <a:latin typeface="Helvetica Neue"/>
              </a:rPr>
              <a:t>• Merch reward for the best comments / feedback received by each team (qualified-feedback verification: connected wallet, active XRP profile, no bots)</a:t>
            </a:r>
          </a:p>
        </p:txBody>
      </p:sp>
      <p:sp>
        <p:nvSpPr>
          <p:cNvPr id="11" name="TextBox 10"/>
          <p:cNvSpPr txBox="1"/>
          <p:nvPr/>
        </p:nvSpPr>
        <p:spPr>
          <a:xfrm>
            <a:off x="502920" y="6446520"/>
            <a:ext cx="11185855" cy="274320"/>
          </a:xfrm>
          <a:prstGeom prst="rect">
            <a:avLst/>
          </a:prstGeom>
          <a:noFill/>
        </p:spPr>
        <p:txBody>
          <a:bodyPr wrap="none">
            <a:spAutoFit/>
          </a:bodyPr>
          <a:lstStyle/>
          <a:p>
            <a:pPr algn="l"/>
            <a:r>
              <a:rPr sz="900">
                <a:solidFill>
                  <a:srgbClr val="58605A"/>
                </a:solidFill>
                <a:latin typeface="Helvetica Neue"/>
              </a:rPr>
              <a:t>xrpl-builder.vercel.app/en/buildathon</a:t>
            </a:r>
          </a:p>
        </p:txBody>
      </p:sp>
      <p:sp>
        <p:nvSpPr>
          <p:cNvPr id="12" name="TextBox 11"/>
          <p:cNvSpPr txBox="1"/>
          <p:nvPr/>
        </p:nvSpPr>
        <p:spPr>
          <a:xfrm>
            <a:off x="10820095" y="6446520"/>
            <a:ext cx="1097280" cy="274320"/>
          </a:xfrm>
          <a:prstGeom prst="rect">
            <a:avLst/>
          </a:prstGeom>
          <a:noFill/>
        </p:spPr>
        <p:txBody>
          <a:bodyPr wrap="none">
            <a:spAutoFit/>
          </a:bodyPr>
          <a:lstStyle/>
          <a:p>
            <a:pPr algn="r"/>
            <a:r>
              <a:rPr sz="900">
                <a:solidFill>
                  <a:srgbClr val="58605A"/>
                </a:solidFill>
                <a:latin typeface="Helvetica Neue"/>
              </a:rPr>
              <a:t>10/12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0"/>
            <a:ext cx="11963095" cy="1280160"/>
          </a:xfrm>
          <a:prstGeom prst="rect">
            <a:avLst/>
          </a:prstGeom>
          <a:solidFill>
            <a:srgbClr val="EC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2743200" cy="365760"/>
          </a:xfrm>
          <a:prstGeom prst="rect">
            <a:avLst/>
          </a:prstGeom>
          <a:noFill/>
        </p:spPr>
        <p:txBody>
          <a:bodyPr wrap="none">
            <a:spAutoFit/>
          </a:bodyPr>
          <a:lstStyle/>
          <a:p>
            <a:r>
              <a:rPr sz="1100" b="1">
                <a:solidFill>
                  <a:srgbClr val="58605A"/>
                </a:solidFill>
                <a:latin typeface="Helvetica Neue"/>
              </a:rPr>
              <a:t>SECTION 11</a:t>
            </a:r>
          </a:p>
        </p:txBody>
      </p:sp>
      <p:sp>
        <p:nvSpPr>
          <p:cNvPr id="5" name="TextBox 4"/>
          <p:cNvSpPr txBox="1"/>
          <p:nvPr/>
        </p:nvSpPr>
        <p:spPr>
          <a:xfrm>
            <a:off x="502920" y="594360"/>
            <a:ext cx="11185855" cy="685800"/>
          </a:xfrm>
          <a:prstGeom prst="rect">
            <a:avLst/>
          </a:prstGeom>
          <a:noFill/>
        </p:spPr>
        <p:txBody>
          <a:bodyPr wrap="none">
            <a:spAutoFit/>
          </a:bodyPr>
          <a:lstStyle/>
          <a:p>
            <a:r>
              <a:rPr sz="2600" b="1">
                <a:solidFill>
                  <a:srgbClr val="0E1116"/>
                </a:solidFill>
                <a:latin typeface="Helvetica Neue"/>
              </a:rPr>
              <a:t>🌐 Inspiration — market benchmark 2026</a:t>
            </a:r>
          </a:p>
        </p:txBody>
      </p:sp>
      <p:sp>
        <p:nvSpPr>
          <p:cNvPr id="6" name="TextBox 5"/>
          <p:cNvSpPr txBox="1"/>
          <p:nvPr/>
        </p:nvSpPr>
        <p:spPr>
          <a:xfrm>
            <a:off x="502920" y="1554480"/>
            <a:ext cx="2743200" cy="365760"/>
          </a:xfrm>
          <a:prstGeom prst="rect">
            <a:avLst/>
          </a:prstGeom>
          <a:noFill/>
        </p:spPr>
        <p:txBody>
          <a:bodyPr wrap="none">
            <a:spAutoFit/>
          </a:bodyPr>
          <a:lstStyle/>
          <a:p>
            <a:r>
              <a:rPr sz="1100" b="1">
                <a:solidFill>
                  <a:srgbClr val="E87722"/>
                </a:solidFill>
                <a:latin typeface="Helvetica Neue"/>
              </a:rPr>
              <a:t>RECOMMENDATION</a:t>
            </a:r>
          </a:p>
        </p:txBody>
      </p:sp>
      <p:sp>
        <p:nvSpPr>
          <p:cNvPr id="7" name="TextBox 6"/>
          <p:cNvSpPr txBox="1"/>
          <p:nvPr/>
        </p:nvSpPr>
        <p:spPr>
          <a:xfrm>
            <a:off x="502920" y="1828800"/>
            <a:ext cx="11185855" cy="640080"/>
          </a:xfrm>
          <a:prstGeom prst="rect">
            <a:avLst/>
          </a:prstGeom>
          <a:noFill/>
        </p:spPr>
        <p:txBody>
          <a:bodyPr wrap="none">
            <a:spAutoFit/>
          </a:bodyPr>
          <a:lstStyle/>
          <a:p>
            <a:r>
              <a:rPr sz="2200" b="1">
                <a:solidFill>
                  <a:srgbClr val="0E1116"/>
                </a:solidFill>
                <a:latin typeface="Helvetica Neue"/>
              </a:rPr>
              <a:t/>
            </a:r>
          </a:p>
        </p:txBody>
      </p:sp>
      <p:sp>
        <p:nvSpPr>
          <p:cNvPr id="8" name="TextBox 7"/>
          <p:cNvSpPr txBox="1"/>
          <p:nvPr/>
        </p:nvSpPr>
        <p:spPr>
          <a:xfrm>
            <a:off x="502920" y="2468880"/>
            <a:ext cx="11185855" cy="1371600"/>
          </a:xfrm>
          <a:prstGeom prst="rect">
            <a:avLst/>
          </a:prstGeom>
          <a:noFill/>
        </p:spPr>
        <p:txBody>
          <a:bodyPr wrap="square">
            <a:spAutoFit/>
          </a:bodyPr>
          <a:lstStyle/>
          <a:p>
            <a:r>
              <a:rPr sz="1300" b="0">
                <a:solidFill>
                  <a:srgbClr val="0E1116"/>
                </a:solidFill>
                <a:latin typeface="Helvetica Neue"/>
              </a:rPr>
              <a:t>Research conducted May 2026. 4 main models analyzed (Solana Colosseum, ETHGlobal, Anthropic AI hackathons, Akindo/WaveHack) + 1 generic platform (Lablab.ai). Public sources.</a:t>
            </a:r>
          </a:p>
        </p:txBody>
      </p:sp>
      <p:sp>
        <p:nvSpPr>
          <p:cNvPr id="9" name="TextBox 8"/>
          <p:cNvSpPr txBox="1"/>
          <p:nvPr/>
        </p:nvSpPr>
        <p:spPr>
          <a:xfrm>
            <a:off x="502920" y="3361944"/>
            <a:ext cx="11185855" cy="2286000"/>
          </a:xfrm>
          <a:prstGeom prst="rect">
            <a:avLst/>
          </a:prstGeom>
          <a:noFill/>
        </p:spPr>
        <p:txBody>
          <a:bodyPr wrap="square">
            <a:spAutoFit/>
          </a:bodyPr>
          <a:lstStyle/>
          <a:p>
            <a:pPr>
              <a:spcAft>
                <a:spcPts val="400"/>
              </a:spcAft>
            </a:pPr>
            <a:r>
              <a:rPr sz="1200">
                <a:solidFill>
                  <a:srgbClr val="0E1116"/>
                </a:solidFill>
                <a:latin typeface="Helvetica Neue"/>
              </a:rPr>
              <a:t>• Too short (24-48h) → superficial projects, no follow-up</a:t>
            </a:r>
          </a:p>
          <a:p>
            <a:pPr>
              <a:spcAft>
                <a:spcPts val="400"/>
              </a:spcAft>
            </a:pPr>
            <a:r>
              <a:rPr sz="1200">
                <a:solidFill>
                  <a:srgbClr val="0E1116"/>
                </a:solidFill>
                <a:latin typeface="Helvetica Neue"/>
              </a:rPr>
              <a:t>• Too open (accept-all) → noise, overwhelmed mentors, diluted quality</a:t>
            </a:r>
          </a:p>
          <a:p>
            <a:pPr>
              <a:spcAft>
                <a:spcPts val="400"/>
              </a:spcAft>
            </a:pPr>
            <a:r>
              <a:rPr sz="1200">
                <a:solidFill>
                  <a:srgbClr val="0E1116"/>
                </a:solidFill>
                <a:latin typeface="Helvetica Neue"/>
              </a:rPr>
              <a:t>• 100% cash, no accelerator → winners disappear after the check</a:t>
            </a:r>
          </a:p>
          <a:p>
            <a:pPr>
              <a:spcAft>
                <a:spcPts val="400"/>
              </a:spcAft>
            </a:pPr>
            <a:r>
              <a:rPr sz="1200">
                <a:solidFill>
                  <a:srgbClr val="0E1116"/>
                </a:solidFill>
                <a:latin typeface="Helvetica Neue"/>
              </a:rPr>
              <a:t>• No challenge guide → random projects not aligned with real gaps (XRPL Builder avoids this thanks to /opportunities)</a:t>
            </a:r>
          </a:p>
          <a:p>
            <a:pPr>
              <a:spcAft>
                <a:spcPts val="400"/>
              </a:spcAft>
            </a:pPr>
            <a:r>
              <a:rPr sz="1200">
                <a:solidFill>
                  <a:srgbClr val="0E1116"/>
                </a:solidFill>
                <a:latin typeface="Helvetica Neue"/>
              </a:rPr>
              <a:t>• IRL only → entry barrier for non-US/Europe devs</a:t>
            </a:r>
          </a:p>
        </p:txBody>
      </p:sp>
      <p:sp>
        <p:nvSpPr>
          <p:cNvPr id="10" name="TextBox 9"/>
          <p:cNvSpPr txBox="1"/>
          <p:nvPr/>
        </p:nvSpPr>
        <p:spPr>
          <a:xfrm>
            <a:off x="502920" y="6446520"/>
            <a:ext cx="11185855" cy="274320"/>
          </a:xfrm>
          <a:prstGeom prst="rect">
            <a:avLst/>
          </a:prstGeom>
          <a:noFill/>
        </p:spPr>
        <p:txBody>
          <a:bodyPr wrap="none">
            <a:spAutoFit/>
          </a:bodyPr>
          <a:lstStyle/>
          <a:p>
            <a:pPr algn="l"/>
            <a:r>
              <a:rPr sz="900">
                <a:solidFill>
                  <a:srgbClr val="58605A"/>
                </a:solidFill>
                <a:latin typeface="Helvetica Neue"/>
              </a:rPr>
              <a:t>xrpl-builder.vercel.app/en/buildathon</a:t>
            </a:r>
          </a:p>
        </p:txBody>
      </p:sp>
      <p:sp>
        <p:nvSpPr>
          <p:cNvPr id="11" name="TextBox 10"/>
          <p:cNvSpPr txBox="1"/>
          <p:nvPr/>
        </p:nvSpPr>
        <p:spPr>
          <a:xfrm>
            <a:off x="10820095" y="6446520"/>
            <a:ext cx="1097280" cy="274320"/>
          </a:xfrm>
          <a:prstGeom prst="rect">
            <a:avLst/>
          </a:prstGeom>
          <a:noFill/>
        </p:spPr>
        <p:txBody>
          <a:bodyPr wrap="none">
            <a:spAutoFit/>
          </a:bodyPr>
          <a:lstStyle/>
          <a:p>
            <a:pPr algn="r"/>
            <a:r>
              <a:rPr sz="900">
                <a:solidFill>
                  <a:srgbClr val="58605A"/>
                </a:solidFill>
                <a:latin typeface="Helvetica Neue"/>
              </a:rPr>
              <a:t>11/12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0"/>
            <a:ext cx="11963095" cy="1280160"/>
          </a:xfrm>
          <a:prstGeom prst="rect">
            <a:avLst/>
          </a:prstGeom>
          <a:solidFill>
            <a:srgbClr val="EC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2743200" cy="365760"/>
          </a:xfrm>
          <a:prstGeom prst="rect">
            <a:avLst/>
          </a:prstGeom>
          <a:noFill/>
        </p:spPr>
        <p:txBody>
          <a:bodyPr wrap="none">
            <a:spAutoFit/>
          </a:bodyPr>
          <a:lstStyle/>
          <a:p>
            <a:r>
              <a:rPr sz="1100" b="1">
                <a:solidFill>
                  <a:srgbClr val="58605A"/>
                </a:solidFill>
                <a:latin typeface="Helvetica Neue"/>
              </a:rPr>
              <a:t>SECTION 12</a:t>
            </a:r>
          </a:p>
        </p:txBody>
      </p:sp>
      <p:sp>
        <p:nvSpPr>
          <p:cNvPr id="5" name="TextBox 4"/>
          <p:cNvSpPr txBox="1"/>
          <p:nvPr/>
        </p:nvSpPr>
        <p:spPr>
          <a:xfrm>
            <a:off x="502920" y="594360"/>
            <a:ext cx="11185855" cy="685800"/>
          </a:xfrm>
          <a:prstGeom prst="rect">
            <a:avLst/>
          </a:prstGeom>
          <a:noFill/>
        </p:spPr>
        <p:txBody>
          <a:bodyPr wrap="none">
            <a:spAutoFit/>
          </a:bodyPr>
          <a:lstStyle/>
          <a:p>
            <a:r>
              <a:rPr sz="2600" b="1">
                <a:solidFill>
                  <a:srgbClr val="0E1116"/>
                </a:solidFill>
                <a:latin typeface="Helvetica Neue"/>
              </a:rPr>
              <a:t>🎯 Final variants — committee choice</a:t>
            </a:r>
          </a:p>
        </p:txBody>
      </p:sp>
      <p:sp>
        <p:nvSpPr>
          <p:cNvPr id="6" name="TextBox 5"/>
          <p:cNvSpPr txBox="1"/>
          <p:nvPr/>
        </p:nvSpPr>
        <p:spPr>
          <a:xfrm>
            <a:off x="502920" y="1554480"/>
            <a:ext cx="2743200" cy="365760"/>
          </a:xfrm>
          <a:prstGeom prst="rect">
            <a:avLst/>
          </a:prstGeom>
          <a:noFill/>
        </p:spPr>
        <p:txBody>
          <a:bodyPr wrap="none">
            <a:spAutoFit/>
          </a:bodyPr>
          <a:lstStyle/>
          <a:p>
            <a:r>
              <a:rPr sz="1100" b="1">
                <a:solidFill>
                  <a:srgbClr val="E87722"/>
                </a:solidFill>
                <a:latin typeface="Helvetica Neue"/>
              </a:rPr>
              <a:t>RECOMMENDATION</a:t>
            </a:r>
          </a:p>
        </p:txBody>
      </p:sp>
      <p:sp>
        <p:nvSpPr>
          <p:cNvPr id="7" name="TextBox 6"/>
          <p:cNvSpPr txBox="1"/>
          <p:nvPr/>
        </p:nvSpPr>
        <p:spPr>
          <a:xfrm>
            <a:off x="502920" y="1828800"/>
            <a:ext cx="11185855" cy="640080"/>
          </a:xfrm>
          <a:prstGeom prst="rect">
            <a:avLst/>
          </a:prstGeom>
          <a:noFill/>
        </p:spPr>
        <p:txBody>
          <a:bodyPr wrap="none">
            <a:spAutoFit/>
          </a:bodyPr>
          <a:lstStyle/>
          <a:p>
            <a:r>
              <a:rPr sz="2200" b="1">
                <a:solidFill>
                  <a:srgbClr val="0E1116"/>
                </a:solidFill>
                <a:latin typeface="Helvetica Neue"/>
              </a:rPr>
              <a:t>Variant 1 · Buildathon 30x · Hybrid milestone-grants + XRPL Commons journey</a:t>
            </a:r>
          </a:p>
        </p:txBody>
      </p:sp>
      <p:sp>
        <p:nvSpPr>
          <p:cNvPr id="8" name="TextBox 7"/>
          <p:cNvSpPr txBox="1"/>
          <p:nvPr/>
        </p:nvSpPr>
        <p:spPr>
          <a:xfrm>
            <a:off x="502920" y="2468880"/>
            <a:ext cx="11185855" cy="457200"/>
          </a:xfrm>
          <a:prstGeom prst="rect">
            <a:avLst/>
          </a:prstGeom>
          <a:noFill/>
        </p:spPr>
        <p:txBody>
          <a:bodyPr wrap="none">
            <a:spAutoFit/>
          </a:bodyPr>
          <a:lstStyle/>
          <a:p>
            <a:r>
              <a:rPr sz="1400" b="0">
                <a:solidFill>
                  <a:srgbClr val="58605A"/>
                </a:solidFill>
                <a:latin typeface="Helvetica Neue"/>
              </a:rPr>
              <a:t>Simple format, $100k annual pool, milestone-based, integrated in the Academy → Aquarium → Startup Studio journey</a:t>
            </a:r>
          </a:p>
        </p:txBody>
      </p:sp>
      <p:sp>
        <p:nvSpPr>
          <p:cNvPr id="9" name="TextBox 8"/>
          <p:cNvSpPr txBox="1"/>
          <p:nvPr/>
        </p:nvSpPr>
        <p:spPr>
          <a:xfrm>
            <a:off x="502920" y="2971800"/>
            <a:ext cx="11185855" cy="1371600"/>
          </a:xfrm>
          <a:prstGeom prst="rect">
            <a:avLst/>
          </a:prstGeom>
          <a:noFill/>
        </p:spPr>
        <p:txBody>
          <a:bodyPr wrap="square">
            <a:spAutoFit/>
          </a:bodyPr>
          <a:lstStyle/>
          <a:p>
            <a:r>
              <a:rPr sz="1300" b="0">
                <a:solidFill>
                  <a:srgbClr val="0E1116"/>
                </a:solidFill>
                <a:latin typeface="Helvetica Neue"/>
              </a:rPr>
              <a:t>Format:</a:t>
            </a:r>
          </a:p>
        </p:txBody>
      </p:sp>
      <p:sp>
        <p:nvSpPr>
          <p:cNvPr id="10" name="TextBox 9"/>
          <p:cNvSpPr txBox="1"/>
          <p:nvPr/>
        </p:nvSpPr>
        <p:spPr>
          <a:xfrm>
            <a:off x="502920" y="3358896"/>
            <a:ext cx="11185855" cy="2286000"/>
          </a:xfrm>
          <a:prstGeom prst="rect">
            <a:avLst/>
          </a:prstGeom>
          <a:noFill/>
        </p:spPr>
        <p:txBody>
          <a:bodyPr wrap="square">
            <a:spAutoFit/>
          </a:bodyPr>
          <a:lstStyle/>
          <a:p>
            <a:pPr>
              <a:spcAft>
                <a:spcPts val="400"/>
              </a:spcAft>
            </a:pPr>
            <a:r>
              <a:rPr sz="1200">
                <a:solidFill>
                  <a:srgbClr val="0E1116"/>
                </a:solidFill>
                <a:latin typeface="Helvetica Neue"/>
              </a:rPr>
              <a:t>• 30-day online Buildathon · open (no curated selection) · target a few hundred → ~1000 users on mainnet per project · mandatory live-traction gate (mainnet deployed + measurable on-chain activity via SourceTag by day…</a:t>
            </a:r>
          </a:p>
          <a:p>
            <a:pPr>
              <a:spcAft>
                <a:spcPts val="400"/>
              </a:spcAft>
            </a:pPr>
            <a:r>
              <a:rPr sz="1200">
                <a:solidFill>
                  <a:srgbClr val="0E1116"/>
                </a:solidFill>
                <a:latin typeface="Helvetica Neue"/>
              </a:rPr>
              <a:t>• $100k pool · hybrid structure (cf. Section 05): 5 major prizes × $10k milestone-based ($3k upfront + $3k M1 + $4k M2) = $50k</a:t>
            </a:r>
          </a:p>
          <a:p>
            <a:pPr>
              <a:spcAft>
                <a:spcPts val="400"/>
              </a:spcAft>
            </a:pPr>
            <a:r>
              <a:rPr sz="1200">
                <a:solidFill>
                  <a:srgbClr val="0E1116"/>
                </a:solidFill>
                <a:latin typeface="Helvetica Neue"/>
              </a:rPr>
              <a:t>• Up to 100 small prizes × €500 = $50k</a:t>
            </a:r>
          </a:p>
          <a:p>
            <a:pPr>
              <a:spcAft>
                <a:spcPts val="400"/>
              </a:spcAft>
            </a:pPr>
            <a:r>
              <a:rPr sz="1200">
                <a:solidFill>
                  <a:srgbClr val="0E1116"/>
                </a:solidFill>
                <a:latin typeface="Helvetica Neue"/>
              </a:rPr>
              <a:t>• Aquarium access (perk) for the 1st major prize</a:t>
            </a:r>
          </a:p>
        </p:txBody>
      </p:sp>
      <p:sp>
        <p:nvSpPr>
          <p:cNvPr id="11" name="TextBox 10"/>
          <p:cNvSpPr txBox="1"/>
          <p:nvPr/>
        </p:nvSpPr>
        <p:spPr>
          <a:xfrm>
            <a:off x="502920" y="6446520"/>
            <a:ext cx="11185855" cy="274320"/>
          </a:xfrm>
          <a:prstGeom prst="rect">
            <a:avLst/>
          </a:prstGeom>
          <a:noFill/>
        </p:spPr>
        <p:txBody>
          <a:bodyPr wrap="none">
            <a:spAutoFit/>
          </a:bodyPr>
          <a:lstStyle/>
          <a:p>
            <a:pPr algn="l"/>
            <a:r>
              <a:rPr sz="900">
                <a:solidFill>
                  <a:srgbClr val="58605A"/>
                </a:solidFill>
                <a:latin typeface="Helvetica Neue"/>
              </a:rPr>
              <a:t>xrpl-builder.vercel.app/en/buildathon</a:t>
            </a:r>
          </a:p>
        </p:txBody>
      </p:sp>
      <p:sp>
        <p:nvSpPr>
          <p:cNvPr id="12" name="TextBox 11"/>
          <p:cNvSpPr txBox="1"/>
          <p:nvPr/>
        </p:nvSpPr>
        <p:spPr>
          <a:xfrm>
            <a:off x="10820095" y="6446520"/>
            <a:ext cx="1097280" cy="274320"/>
          </a:xfrm>
          <a:prstGeom prst="rect">
            <a:avLst/>
          </a:prstGeom>
          <a:noFill/>
        </p:spPr>
        <p:txBody>
          <a:bodyPr wrap="none">
            <a:spAutoFit/>
          </a:bodyPr>
          <a:lstStyle/>
          <a:p>
            <a:pPr algn="r"/>
            <a:r>
              <a:rPr sz="900">
                <a:solidFill>
                  <a:srgbClr val="58605A"/>
                </a:solidFill>
                <a:latin typeface="Helvetica Neue"/>
              </a:rPr>
              <a:t>12/12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