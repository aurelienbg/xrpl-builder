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0"/>
          </a:xfrm>
          <a:prstGeom prst="rect">
            <a:avLst/>
          </a:prstGeom>
          <a:solidFill>
            <a:srgbClr val="0E11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31720"/>
            <a:ext cx="12191695"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11094415" cy="365760"/>
          </a:xfrm>
          <a:prstGeom prst="rect">
            <a:avLst/>
          </a:prstGeom>
          <a:noFill/>
        </p:spPr>
        <p:txBody>
          <a:bodyPr wrap="none">
            <a:spAutoFit/>
          </a:bodyPr>
          <a:lstStyle/>
          <a:p>
            <a:r>
              <a:rPr sz="1200" b="1">
                <a:solidFill>
                  <a:srgbClr val="D4A017"/>
                </a:solidFill>
                <a:latin typeface="Helvetica Neue"/>
              </a:rPr>
              <a:t>XRPL BUILDER · BUILDATHON PROPOSAL · v0.1</a:t>
            </a:r>
          </a:p>
        </p:txBody>
      </p:sp>
      <p:sp>
        <p:nvSpPr>
          <p:cNvPr id="5" name="TextBox 4"/>
          <p:cNvSpPr txBox="1"/>
          <p:nvPr/>
        </p:nvSpPr>
        <p:spPr>
          <a:xfrm>
            <a:off x="548640" y="914400"/>
            <a:ext cx="11094415" cy="1097280"/>
          </a:xfrm>
          <a:prstGeom prst="rect">
            <a:avLst/>
          </a:prstGeom>
          <a:noFill/>
        </p:spPr>
        <p:txBody>
          <a:bodyPr wrap="none">
            <a:spAutoFit/>
          </a:bodyPr>
          <a:lstStyle/>
          <a:p>
            <a:r>
              <a:rPr sz="4400" b="1">
                <a:solidFill>
                  <a:srgbClr val="F4EFE6"/>
                </a:solidFill>
                <a:latin typeface="Helvetica Neue"/>
              </a:rPr>
              <a:t>Buildathon XRPL Commons</a:t>
            </a:r>
          </a:p>
        </p:txBody>
      </p:sp>
      <p:sp>
        <p:nvSpPr>
          <p:cNvPr id="6" name="TextBox 5"/>
          <p:cNvSpPr txBox="1"/>
          <p:nvPr/>
        </p:nvSpPr>
        <p:spPr>
          <a:xfrm>
            <a:off x="548640" y="1783080"/>
            <a:ext cx="11094415" cy="457200"/>
          </a:xfrm>
          <a:prstGeom prst="rect">
            <a:avLst/>
          </a:prstGeom>
          <a:noFill/>
        </p:spPr>
        <p:txBody>
          <a:bodyPr wrap="none">
            <a:spAutoFit/>
          </a:bodyPr>
          <a:lstStyle/>
          <a:p>
            <a:r>
              <a:rPr sz="1800" b="0">
                <a:solidFill>
                  <a:srgbClr val="F4EFE6"/>
                </a:solidFill>
                <a:latin typeface="Helvetica Neue"/>
              </a:rPr>
              <a:t>Synthèse des recommandations · 12 sections</a:t>
            </a:r>
          </a:p>
        </p:txBody>
      </p:sp>
      <p:sp>
        <p:nvSpPr>
          <p:cNvPr id="7" name="TextBox 6"/>
          <p:cNvSpPr txBox="1"/>
          <p:nvPr/>
        </p:nvSpPr>
        <p:spPr>
          <a:xfrm>
            <a:off x="548640" y="2743200"/>
            <a:ext cx="11094415" cy="3200400"/>
          </a:xfrm>
          <a:prstGeom prst="rect">
            <a:avLst/>
          </a:prstGeom>
          <a:noFill/>
        </p:spPr>
        <p:txBody>
          <a:bodyPr wrap="square">
            <a:spAutoFit/>
          </a:bodyPr>
          <a:lstStyle/>
          <a:p>
            <a:r>
              <a:rPr sz="1400" b="0">
                <a:solidFill>
                  <a:srgbClr val="58605A"/>
                </a:solidFill>
                <a:latin typeface="Helvetica Neue"/>
              </a:rPr>
              <a:t>Une slide par section. La proposition principale (recommandation), pas les alternatives.</a:t>
            </a:r>
          </a:p>
          <a:p>
            <a:r>
              <a:rPr sz="800" b="0">
                <a:latin typeface="Helvetica Neue"/>
              </a:rPr>
              <a:t/>
            </a:r>
          </a:p>
          <a:p>
            <a:r>
              <a:rPr sz="1400" b="1">
                <a:solidFill>
                  <a:srgbClr val="0E1116"/>
                </a:solidFill>
                <a:latin typeface="Helvetica Neue"/>
              </a:rPr>
              <a:t>Sections couvertes :</a:t>
            </a:r>
          </a:p>
          <a:p>
            <a:r>
              <a:rPr sz="1200" b="0">
                <a:solidFill>
                  <a:srgbClr val="0E1116"/>
                </a:solidFill>
                <a:latin typeface="Helvetica Neue"/>
              </a:rPr>
              <a:t>  • 00 · Synthèse stratégique — 4 modèles à arbitrer</a:t>
            </a:r>
          </a:p>
          <a:p>
            <a:r>
              <a:rPr sz="1200" b="0">
                <a:solidFill>
                  <a:srgbClr val="0E1116"/>
                </a:solidFill>
                <a:latin typeface="Helvetica Neue"/>
              </a:rPr>
              <a:t>  • 01 · Nom · 02 · Format &amp; rythme · 03 · Timing</a:t>
            </a:r>
          </a:p>
          <a:p>
            <a:r>
              <a:rPr sz="1200" b="0">
                <a:solidFill>
                  <a:srgbClr val="0E1116"/>
                </a:solidFill>
                <a:latin typeface="Helvetica Neue"/>
              </a:rPr>
              <a:t>  • 04 · Registre des challenges · 05 · Prix</a:t>
            </a:r>
          </a:p>
          <a:p>
            <a:r>
              <a:rPr sz="1200" b="0">
                <a:solidFill>
                  <a:srgbClr val="0E1116"/>
                </a:solidFill>
                <a:latin typeface="Helvetica Neue"/>
              </a:rPr>
              <a:t>  • 06 · Composition du jury · 07 · Critères · 08 · Équipes</a:t>
            </a:r>
          </a:p>
          <a:p>
            <a:r>
              <a:rPr sz="1200" b="0">
                <a:solidFill>
                  <a:srgbClr val="0E1116"/>
                </a:solidFill>
                <a:latin typeface="Helvetica Neue"/>
              </a:rPr>
              <a:t>  • 09 · Office Hours · 11 · Inspiration · 12 · Variantes finales</a:t>
            </a:r>
          </a:p>
        </p:txBody>
      </p:sp>
      <p:sp>
        <p:nvSpPr>
          <p:cNvPr id="8" name="TextBox 7"/>
          <p:cNvSpPr txBox="1"/>
          <p:nvPr/>
        </p:nvSpPr>
        <p:spPr>
          <a:xfrm>
            <a:off x="548640" y="6400800"/>
            <a:ext cx="11094415" cy="274320"/>
          </a:xfrm>
          <a:prstGeom prst="rect">
            <a:avLst/>
          </a:prstGeom>
          <a:noFill/>
        </p:spPr>
        <p:txBody>
          <a:bodyPr wrap="none">
            <a:spAutoFit/>
          </a:bodyPr>
          <a:lstStyle/>
          <a:p>
            <a:r>
              <a:rPr sz="1000" b="0">
                <a:solidFill>
                  <a:srgbClr val="58605A"/>
                </a:solidFill>
                <a:latin typeface="Helvetica Neue"/>
              </a:rPr>
              <a:t>Source : xrpl-builder.vercel.app/buildathon  ·  Comité XRPL Commons  ·  Mai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00</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Synthèse stratégique — 3 modèles à arbitrer</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Hybrid B + C · flagship annuel + waves continues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Un Buildathon annuel de 30 jours (modèle Colosseum) + 2-3 waves continues de 14 jours par an (modèle Akindo)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3 modèles ne sont pas exclusifs. Le marché montre que les écosystèmes qui produisent des fondateurs sérieux combinent un événement flagship (signal fort, médiatisation, deadline qui force la livraison) + un programme continu (activation ongoing, onboarding permanent, itération milestone-based).</a:t>
            </a:r>
          </a:p>
        </p:txBody>
      </p:sp>
      <p:sp>
        <p:nvSpPr>
          <p:cNvPr id="10" name="TextBox 9"/>
          <p:cNvSpPr txBox="1"/>
          <p:nvPr/>
        </p:nvSpPr>
        <p:spPr>
          <a:xfrm>
            <a:off x="502920" y="42489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activité écosystème toute l'année · pipeline VC robuste · deadline-driven + iteration-driven · onboarding continu</a:t>
            </a:r>
          </a:p>
          <a:p>
            <a:pPr>
              <a:spcAft>
                <a:spcPts val="400"/>
              </a:spcAft>
            </a:pPr>
            <a:r>
              <a:rPr sz="1200">
                <a:solidFill>
                  <a:srgbClr val="0E1116"/>
                </a:solidFill>
                <a:latin typeface="Helvetica Neue"/>
              </a:rPr>
              <a:t>• Contre : 2 systèmes à opérer (un événement + une plateforme) · nécessite infrastructure on-chain pour les waves · plus d'overhead organisationnel</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Nom — comment on appelle ça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Buildathon 30x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Tagline : « 30 days · to the power of x » — la mécanique est encodée dans le nom : 30 jours × récompenses puissance x (la suite reste ouverte).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 nom encode la durée du programme (30 jours) et signale que le pool de récompenses peut évoluer (x = à puissance variable). Marketing gold : aucune autre marque crypto buildathon n'utilise ce pattern (Solana=Colosseum, Arbitrum=Open House, Akindo=WaveHack, ETHGlobal=ville-based) — place de marché libre. Vote final sur la communication restera à arbitrer par l'équipe marketing.</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punchy, mémorable, scalable (l'an prochain on peut faire 30² ou 30³ sans changer de marque) ; encode directement la durée (Section 02) et signale un programme avec potentiel d'amplification</a:t>
            </a:r>
          </a:p>
          <a:p>
            <a:pPr>
              <a:spcAft>
                <a:spcPts val="400"/>
              </a:spcAft>
            </a:pPr>
            <a:r>
              <a:rPr sz="1200">
                <a:solidFill>
                  <a:srgbClr val="0E1116"/>
                </a:solidFill>
                <a:latin typeface="Helvetica Neue"/>
              </a:rPr>
              <a:t>• Contre : ne dit pas "XRPL" — nécessite un sous-titre type "Buildathon 30x · XRPL Commons" pour le contexte ; léger risque SEO ("30^x" peut être lu de plusieurs façons)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Format &amp; rythme — combien de temps, quel cadence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30 jours · full online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Day 0 kickoff → 28 jours de build → Day 29 freeze → Day 30 Demo Day. 100% remote.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Sprint compact de 30 jours, entièrement online. Pas de logistique présentielle — chaque équipe joue à armes égales mondialement. Assez long pour un MVP crédible + démo fonctionnelle (4 semaines de build), assez court pour maintenir l'urgence.</a:t>
            </a:r>
          </a:p>
        </p:txBody>
      </p:sp>
      <p:sp>
        <p:nvSpPr>
          <p:cNvPr id="10" name="TextBox 9"/>
          <p:cNvSpPr txBox="1"/>
          <p:nvPr/>
        </p:nvSpPr>
        <p:spPr>
          <a:xfrm>
            <a:off x="502920" y="4075176"/>
            <a:ext cx="11185855" cy="2286000"/>
          </a:xfrm>
          <a:prstGeom prst="rect">
            <a:avLst/>
          </a:prstGeom>
          <a:noFill/>
        </p:spPr>
        <p:txBody>
          <a:bodyPr wrap="square">
            <a:spAutoFit/>
          </a:bodyPr>
          <a:lstStyle/>
          <a:p>
            <a:pPr>
              <a:spcAft>
                <a:spcPts val="400"/>
              </a:spcAft>
            </a:pPr>
            <a:r>
              <a:rPr sz="1200">
                <a:solidFill>
                  <a:srgbClr val="0E1116"/>
                </a:solidFill>
                <a:latin typeface="Helvetica Neue"/>
              </a:rPr>
              <a:t>• Day 0 : Kickoff online, presentation and Q&amp;A session</a:t>
            </a:r>
          </a:p>
          <a:p>
            <a:pPr>
              <a:spcAft>
                <a:spcPts val="400"/>
              </a:spcAft>
            </a:pPr>
            <a:r>
              <a:rPr sz="1200">
                <a:solidFill>
                  <a:srgbClr val="0E1116"/>
                </a:solidFill>
                <a:latin typeface="Helvetica Neue"/>
              </a:rPr>
              <a:t>• Day 1 → Day 28 : Phase de build — 2 office hours/semaine (30min chacune) + Build at the Commons House 1 jour/semaine (cf. Section 09)</a:t>
            </a:r>
          </a:p>
          <a:p>
            <a:pPr>
              <a:spcAft>
                <a:spcPts val="400"/>
              </a:spcAft>
            </a:pPr>
            <a:r>
              <a:rPr sz="1200">
                <a:solidFill>
                  <a:srgbClr val="0E1116"/>
                </a:solidFill>
                <a:latin typeface="Helvetica Neue"/>
              </a:rPr>
              <a:t>• Day 29 : Pitch deck freeze + Demo freeze — code, deck, vidéo démo tous verrouillés</a:t>
            </a:r>
          </a:p>
          <a:p>
            <a:pPr>
              <a:spcAft>
                <a:spcPts val="400"/>
              </a:spcAft>
            </a:pPr>
            <a:r>
              <a:rPr sz="1200">
                <a:solidFill>
                  <a:srgbClr val="0E1116"/>
                </a:solidFill>
                <a:latin typeface="Helvetica Neue"/>
              </a:rPr>
              <a:t>• Day 30 : Demo Day online (livestream) — gate obligatoire : projet déployé sur XRPL mainnet avec activité on-chain mesurable via SourceTag (volume, transactions, adresses). Revue jury · annonce des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03</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Timing — quand ça se passe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Mer 17 juin → Ven 17 juillet 2026 · 30 jours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Kickoff mercredi 17 juin, Demo Day vendredi 17 juillet — exactement 30 jours, full online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Livre AVANT la trêve estivale (les builders rentrent en août avec le code en main). Aligné avec XLS-66 mainnet (lending live été 2026). Énergie post-PWG (avril 2026) encore fraîche.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4/12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04</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Registre des challenges — que peuvent construire les équipes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Registre /opportunities — 41 opportunités APP, 5 thèmes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Le challenge register du Buildathon = le sous-ensemble APP du registre unifié /opportunities (single source of truth · convergence PWG + ATKA + ECO + YC + interviews). Les 26 opps de type TOOL (librairies, primitives, SDKs) sont hors-scope du Buildathon — destinées à des équipes existantes / contributeurs core.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OPP du registre sont des opportunités identifiées — des idées sur lesquelles nous pensons qu'il existe un potentiel besoin (signaux convergents PWG + ATKA + écosystème + YC + interviews founders). Elles ne sont en aucun cas un cadre restrictif. Tous les projets XRPL sont permis et bienvenus — qu'ils correspondent à une OPP, qu'ils en combinent plusieurs, ou qu'ils proposent quelque chose de complètement différent. Le registre est un point de départ pour aider les builders qui cherchent l'inspiration, pas une checklist obligatoire.</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Tier HIGH (×7 challenges APP) → Bracket Grand Prix. Les opps user-facing à plus fort impact : OPP-017 · B2B Stablecoin FX desk / corridor (b2b)</a:t>
            </a:r>
          </a:p>
          <a:p>
            <a:pPr>
              <a:spcAft>
                <a:spcPts val="400"/>
              </a:spcAft>
            </a:pPr>
            <a:r>
              <a:rPr sz="1200">
                <a:solidFill>
                  <a:srgbClr val="0E1116"/>
                </a:solidFill>
                <a:latin typeface="Helvetica Neue"/>
              </a:rPr>
              <a:t>• OPP-030 · Lending Protocol on EVM Sidechain (Morpho-style) (defi)</a:t>
            </a:r>
          </a:p>
          <a:p>
            <a:pPr>
              <a:spcAft>
                <a:spcPts val="400"/>
              </a:spcAft>
            </a:pPr>
            <a:r>
              <a:rPr sz="1200">
                <a:solidFill>
                  <a:srgbClr val="0E1116"/>
                </a:solidFill>
                <a:latin typeface="Helvetica Neue"/>
              </a:rPr>
              <a:t>• OPP-034 · Lending front-end on Single Asset Vault (pre-XLS-66) (defi)</a:t>
            </a:r>
          </a:p>
          <a:p>
            <a:pPr>
              <a:spcAft>
                <a:spcPts val="400"/>
              </a:spcAft>
            </a:pPr>
            <a:r>
              <a:rPr sz="1200">
                <a:solidFill>
                  <a:srgbClr val="0E1116"/>
                </a:solidFill>
                <a:latin typeface="Helvetica Neue"/>
              </a:rPr>
              <a:t>• OPP-025 · Compliance-native consumer payments (Wise-on-XRPL) (rwat)</a:t>
            </a:r>
          </a:p>
          <a:p>
            <a:pPr>
              <a:spcAft>
                <a:spcPts val="400"/>
              </a:spcAft>
            </a:pPr>
            <a:r>
              <a:rPr sz="1200">
                <a:solidFill>
                  <a:srgbClr val="0E1116"/>
                </a:solidFill>
                <a:latin typeface="Helvetica Neue"/>
              </a:rPr>
              <a:t>• OPP-036 · Restaking Protocol for XRP (Babylon-fork) (defi)</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5/12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05</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Prix — qu'est-ce que gagnent les gagnants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Pool $100k · Hybrid milestone-grants + petits prix + Aquarium</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Budget annuel 2026 dédié — $100k structurés en 3 brackets : $50k en grands milestone-grants ($10k × 5) + $50k en petits prix (500€ × jusqu'à 100 projets) + Aquarium access pour le 1er.</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Filtre les démos polies, récompense la traction réelle (mainnet + users + volume). Inspiré du modèle "RFS + live traction" (interview Florence).</a:t>
            </a:r>
          </a:p>
        </p:txBody>
      </p:sp>
      <p:sp>
        <p:nvSpPr>
          <p:cNvPr id="10" name="TextBox 9"/>
          <p:cNvSpPr txBox="1"/>
          <p:nvPr/>
        </p:nvSpPr>
        <p:spPr>
          <a:xfrm>
            <a:off x="502920" y="3776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Projet déployé sur XRPL mainnet au plus tard au jour 30</a:t>
            </a:r>
          </a:p>
          <a:p>
            <a:pPr>
              <a:spcAft>
                <a:spcPts val="400"/>
              </a:spcAft>
            </a:pPr>
            <a:r>
              <a:rPr sz="1200">
                <a:solidFill>
                  <a:srgbClr val="0E1116"/>
                </a:solidFill>
                <a:latin typeface="Helvetica Neue"/>
              </a:rPr>
              <a:t>• Activité on-chain mesurable via SourceTag au jour 30 : volume · transactions · adresses uniques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6/12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06</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du jury — qui décide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XRPL Commons team · composition à finaliser</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Jury mono-organisation — ownership clair, décisions rapides. Noms à finaliser en interne.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L'équipe XRPL Commons gère le jury seule. Connaît les builders, owns la roadmap, la qualité du programme et l'évaluation des critères Section 07. Pas d'overhead de coordination, pas de cauchemar de scheduling, accountability claire si un résultat est contesté. La composition exacte (jurés titulaires + suppléants) sera décidée en interne, sans annonce publique des noms.</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simple, rapide, ownership clair, pas de friction de scheduling</a:t>
            </a:r>
          </a:p>
          <a:p>
            <a:pPr>
              <a:spcAft>
                <a:spcPts val="400"/>
              </a:spcAft>
            </a:pPr>
            <a:r>
              <a:rPr sz="1200">
                <a:solidFill>
                  <a:srgbClr val="0E1116"/>
                </a:solidFill>
                <a:latin typeface="Helvetica Neue"/>
              </a:rPr>
              <a:t>• Contre : pas d'équilibrage advocacy/accountability externe — risque d'être perçu comme trop interne (compensé par la transparence des critères Section 07 et la validation publique des milestones M1/M2)</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7/12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07</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Critères de jury — comment se mesure le "winning"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2-step judging — Gate binaire puis scoring par bracket de prix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Les critères s'appliquent différemment selon le bracket (petits prix vs grands milestone-grants). Tout est publié aux candidats dès le départ.</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Critères tout-ou-rien au Day 30. Sans ces 2 conditions, aucun prix n'est attribué (cf. Section 05) :</a:t>
            </a:r>
          </a:p>
        </p:txBody>
      </p:sp>
      <p:sp>
        <p:nvSpPr>
          <p:cNvPr id="10" name="TextBox 9"/>
          <p:cNvSpPr txBox="1"/>
          <p:nvPr/>
        </p:nvSpPr>
        <p:spPr>
          <a:xfrm>
            <a:off x="502920" y="3642360"/>
            <a:ext cx="11185855" cy="2286000"/>
          </a:xfrm>
          <a:prstGeom prst="rect">
            <a:avLst/>
          </a:prstGeom>
          <a:noFill/>
        </p:spPr>
        <p:txBody>
          <a:bodyPr wrap="square">
            <a:spAutoFit/>
          </a:bodyPr>
          <a:lstStyle/>
          <a:p>
            <a:pPr>
              <a:spcAft>
                <a:spcPts val="400"/>
              </a:spcAft>
            </a:pPr>
            <a:r>
              <a:rPr sz="1200">
                <a:solidFill>
                  <a:srgbClr val="0E1116"/>
                </a:solidFill>
                <a:latin typeface="Helvetica Neue"/>
              </a:rPr>
              <a:t>• Mainnet deployment — projet déployé et accessible sur XRPL mainnet, code source publié (ou justifié si propriétaire)</a:t>
            </a:r>
          </a:p>
          <a:p>
            <a:pPr>
              <a:spcAft>
                <a:spcPts val="400"/>
              </a:spcAft>
            </a:pPr>
            <a:r>
              <a:rPr sz="1200">
                <a:solidFill>
                  <a:srgbClr val="0E1116"/>
                </a:solidFill>
                <a:latin typeface="Helvetica Neue"/>
              </a:rPr>
              <a:t>• Activité on-chain mesurable via SourceTag — au moins 1 transaction réelle attribuable au projet via SourceTag, validable par le jury sur explorer XRPL</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8/12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08</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d'équipe — taille &amp; profil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Solo ou équipe — pas de minimum, pas de maximum, aucun profil requis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Accessibilité max — n'importe qui peut postuler, seul ou avec n'importe quels cofondateurs. Aucun pré-requis de profil.</a:t>
            </a:r>
          </a:p>
        </p:txBody>
      </p:sp>
      <p:sp>
        <p:nvSpPr>
          <p:cNvPr id="9" name="TextBox 8"/>
          <p:cNvSpPr txBox="1"/>
          <p:nvPr/>
        </p:nvSpPr>
        <p:spPr>
          <a:xfrm>
            <a:off x="502920" y="29718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Pas de minimum — les solo applicants sont bienvenus et éligibles à tous les tiers de prix (petits prix + grands milestone-grants + Aquarium access)</a:t>
            </a:r>
          </a:p>
          <a:p>
            <a:pPr>
              <a:spcAft>
                <a:spcPts val="400"/>
              </a:spcAft>
            </a:pPr>
            <a:r>
              <a:rPr sz="1200">
                <a:solidFill>
                  <a:srgbClr val="0E1116"/>
                </a:solidFill>
                <a:latin typeface="Helvetica Neue"/>
              </a:rPr>
              <a:t>• Pas de maximum — les équipes de toute taille peuvent postuler</a:t>
            </a:r>
          </a:p>
          <a:p>
            <a:pPr>
              <a:spcAft>
                <a:spcPts val="400"/>
              </a:spcAft>
            </a:pPr>
            <a:r>
              <a:rPr sz="1200">
                <a:solidFill>
                  <a:srgbClr val="0E1116"/>
                </a:solidFill>
                <a:latin typeface="Helvetica Neue"/>
              </a:rPr>
              <a:t>• Aucun profil requis — pas de minimum expérience XRPL, pas de minimum expérience crypto, pas de seniority required. Si vous savez build, vous êtes éligible.</a:t>
            </a:r>
          </a:p>
          <a:p>
            <a:pPr>
              <a:spcAft>
                <a:spcPts val="400"/>
              </a:spcAft>
            </a:pPr>
            <a:r>
              <a:rPr sz="1200">
                <a:solidFill>
                  <a:srgbClr val="0E1116"/>
                </a:solidFill>
                <a:latin typeface="Helvetica Neue"/>
              </a:rPr>
              <a:t>• Diversité géographique encouragée — format full online + 1 jour IRL/semaine optionnel à la Commons House (Paris) = n'importe qui, n'importe où peut concourir</a:t>
            </a:r>
          </a:p>
          <a:p>
            <a:pPr>
              <a:spcAft>
                <a:spcPts val="400"/>
              </a:spcAft>
            </a:pPr>
            <a:r>
              <a:rPr sz="1200">
                <a:solidFill>
                  <a:srgbClr val="0E1116"/>
                </a:solidFill>
                <a:latin typeface="Helvetica Neue"/>
              </a:rPr>
              <a:t>• Alumni Aquarium / Hackathon sont éligibles à l'ensemble des prix sans distinction (le côté "From the community" était une ancienne reco, supprimée)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9/12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09 · NEW</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Office Hours — support des équipes pendant le build</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Cadence hebdo "ship + visibility" + 2 slots fixes + 1 jour IRL à la Commons House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Pendant la phase de build de 4 semaines (Day 1 → Day 28, 18 juin → 15 juil)</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 Weekly Ship Cadence (Guillaume)</a:t>
            </a:r>
          </a:p>
        </p:txBody>
      </p:sp>
      <p:sp>
        <p:nvSpPr>
          <p:cNvPr id="10" name="TextBox 9"/>
          <p:cNvSpPr txBox="1"/>
          <p:nvPr/>
        </p:nvSpPr>
        <p:spPr>
          <a:xfrm>
            <a:off x="502920" y="3438144"/>
            <a:ext cx="11185855" cy="2286000"/>
          </a:xfrm>
          <a:prstGeom prst="rect">
            <a:avLst/>
          </a:prstGeom>
          <a:noFill/>
        </p:spPr>
        <p:txBody>
          <a:bodyPr wrap="square">
            <a:spAutoFit/>
          </a:bodyPr>
          <a:lstStyle/>
          <a:p>
            <a:pPr>
              <a:spcAft>
                <a:spcPts val="400"/>
              </a:spcAft>
            </a:pPr>
            <a:r>
              <a:rPr sz="1200">
                <a:solidFill>
                  <a:srgbClr val="0E1116"/>
                </a:solidFill>
                <a:latin typeface="Helvetica Neue"/>
              </a:rPr>
              <a:t>• Chaque équipe livre toutes les semaines : (1) video courte (60-120s) du progrès · (2) deck slide unique · (3) feedback users sur les socials (post X avec wallet connecté + XRP profile pour traçabilité)</a:t>
            </a:r>
          </a:p>
          <a:p>
            <a:pPr>
              <a:spcAft>
                <a:spcPts val="400"/>
              </a:spcAft>
            </a:pPr>
            <a:r>
              <a:rPr sz="1200">
                <a:solidFill>
                  <a:srgbClr val="0E1116"/>
                </a:solidFill>
                <a:latin typeface="Helvetica Neue"/>
              </a:rPr>
              <a:t>• XRPL Commons amplifie : push hebdo du top 5 ou 10 sur ses canaux + lien public unique permettant de voir toutes les soumissions</a:t>
            </a:r>
          </a:p>
          <a:p>
            <a:pPr>
              <a:spcAft>
                <a:spcPts val="400"/>
              </a:spcAft>
            </a:pPr>
            <a:r>
              <a:rPr sz="1200">
                <a:solidFill>
                  <a:srgbClr val="0E1116"/>
                </a:solidFill>
                <a:latin typeface="Helvetica Neue"/>
              </a:rPr>
              <a:t>• Merch reward pour les meilleurs commentaires / feedback reçus par chaque équipe (vérif que le feedback est qualifié : wallet connecté, XRP profile actif, pas de bot)</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Inspiration — benchmark du marché 2026</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
            </a:r>
          </a:p>
        </p:txBody>
      </p:sp>
      <p:sp>
        <p:nvSpPr>
          <p:cNvPr id="8" name="TextBox 7"/>
          <p:cNvSpPr txBox="1"/>
          <p:nvPr/>
        </p:nvSpPr>
        <p:spPr>
          <a:xfrm>
            <a:off x="502920" y="2468880"/>
            <a:ext cx="11185855" cy="1371600"/>
          </a:xfrm>
          <a:prstGeom prst="rect">
            <a:avLst/>
          </a:prstGeom>
          <a:noFill/>
        </p:spPr>
        <p:txBody>
          <a:bodyPr wrap="square">
            <a:spAutoFit/>
          </a:bodyPr>
          <a:lstStyle/>
          <a:p>
            <a:r>
              <a:rPr sz="1300" b="0">
                <a:solidFill>
                  <a:srgbClr val="0E1116"/>
                </a:solidFill>
                <a:latin typeface="Helvetica Neue"/>
              </a:rPr>
              <a:t>Recherche menée mai 2026. 4 modèles principaux analysés (Solana Colosseum, ETHGlobal, Anthropic AI hackathons, Akindo/WaveHack) + 1 plateforme générique (Lablab.ai). Sources publiques.</a:t>
            </a:r>
          </a:p>
        </p:txBody>
      </p:sp>
      <p:sp>
        <p:nvSpPr>
          <p:cNvPr id="9" name="TextBox 8"/>
          <p:cNvSpPr txBox="1"/>
          <p:nvPr/>
        </p:nvSpPr>
        <p:spPr>
          <a:xfrm>
            <a:off x="502920" y="3395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Trop court (24-48h) → projets superficiels, no follow-up</a:t>
            </a:r>
          </a:p>
          <a:p>
            <a:pPr>
              <a:spcAft>
                <a:spcPts val="400"/>
              </a:spcAft>
            </a:pPr>
            <a:r>
              <a:rPr sz="1200">
                <a:solidFill>
                  <a:srgbClr val="0E1116"/>
                </a:solidFill>
                <a:latin typeface="Helvetica Neue"/>
              </a:rPr>
              <a:t>• Trop ouvert (accept-all) → bruit, mentors débordés, qualité diluée</a:t>
            </a:r>
          </a:p>
          <a:p>
            <a:pPr>
              <a:spcAft>
                <a:spcPts val="400"/>
              </a:spcAft>
            </a:pPr>
            <a:r>
              <a:rPr sz="1200">
                <a:solidFill>
                  <a:srgbClr val="0E1116"/>
                </a:solidFill>
                <a:latin typeface="Helvetica Neue"/>
              </a:rPr>
              <a:t>• 100% cash, pas d'accelerator → winners disparaissent après le chèque</a:t>
            </a:r>
          </a:p>
          <a:p>
            <a:pPr>
              <a:spcAft>
                <a:spcPts val="400"/>
              </a:spcAft>
            </a:pPr>
            <a:r>
              <a:rPr sz="1200">
                <a:solidFill>
                  <a:srgbClr val="0E1116"/>
                </a:solidFill>
                <a:latin typeface="Helvetica Neue"/>
              </a:rPr>
              <a:t>• Pas de challenge guide → projets aléatoires non alignés avec les vrais gaps (XRPL Builder évite ça grâce à /opportunities)</a:t>
            </a:r>
          </a:p>
          <a:p>
            <a:pPr>
              <a:spcAft>
                <a:spcPts val="400"/>
              </a:spcAft>
            </a:pPr>
            <a:r>
              <a:rPr sz="1200">
                <a:solidFill>
                  <a:srgbClr val="0E1116"/>
                </a:solidFill>
                <a:latin typeface="Helvetica Neue"/>
              </a:rPr>
              <a:t>• IRL only → barrière d'entrée pour devs non-US/Europe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Variantes finales — le choix du comité</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Variante 1 · Buildathon 30x · Hybrid milestone-grants + parcours XRPL Commons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Format simple, pool $100k annuel, milestone-based, intégré dans le parcours Académie → Aquarium → Startup Studio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Format :</a:t>
            </a:r>
          </a:p>
        </p:txBody>
      </p:sp>
      <p:sp>
        <p:nvSpPr>
          <p:cNvPr id="10" name="TextBox 9"/>
          <p:cNvSpPr txBox="1"/>
          <p:nvPr/>
        </p:nvSpPr>
        <p:spPr>
          <a:xfrm>
            <a:off x="502920" y="3361944"/>
            <a:ext cx="11185855" cy="2286000"/>
          </a:xfrm>
          <a:prstGeom prst="rect">
            <a:avLst/>
          </a:prstGeom>
          <a:noFill/>
        </p:spPr>
        <p:txBody>
          <a:bodyPr wrap="square">
            <a:spAutoFit/>
          </a:bodyPr>
          <a:lstStyle/>
          <a:p>
            <a:pPr>
              <a:spcAft>
                <a:spcPts val="400"/>
              </a:spcAft>
            </a:pPr>
            <a:r>
              <a:rPr sz="1200">
                <a:solidFill>
                  <a:srgbClr val="0E1116"/>
                </a:solidFill>
                <a:latin typeface="Helvetica Neue"/>
              </a:rPr>
              <a:t>• Buildathon 30 jours online · open (pas de selection curated) · cible quelques centaines → ~1000 users sur mainnet par projet · gate live-traction obligatoire (mainnet deployed + activité on-chain mesurable par Sourc…</a:t>
            </a:r>
          </a:p>
          <a:p>
            <a:pPr>
              <a:spcAft>
                <a:spcPts val="400"/>
              </a:spcAft>
            </a:pPr>
            <a:r>
              <a:rPr sz="1200">
                <a:solidFill>
                  <a:srgbClr val="0E1116"/>
                </a:solidFill>
                <a:latin typeface="Helvetica Neue"/>
              </a:rPr>
              <a:t>• Pool $100k · structure hybride (cf. Section 05) : 5 grands prix × $10k milestone-based ($3k upfront + $3k M1 + $4k M2) = $50k</a:t>
            </a:r>
          </a:p>
          <a:p>
            <a:pPr>
              <a:spcAft>
                <a:spcPts val="400"/>
              </a:spcAft>
            </a:pPr>
            <a:r>
              <a:rPr sz="1200">
                <a:solidFill>
                  <a:srgbClr val="0E1116"/>
                </a:solidFill>
                <a:latin typeface="Helvetica Neue"/>
              </a:rPr>
              <a:t>• Jusqu'à 100 petits prix × 500€ = $50k</a:t>
            </a:r>
          </a:p>
          <a:p>
            <a:pPr>
              <a:spcAft>
                <a:spcPts val="400"/>
              </a:spcAft>
            </a:pPr>
            <a:r>
              <a:rPr sz="1200">
                <a:solidFill>
                  <a:srgbClr val="0E1116"/>
                </a:solidFill>
                <a:latin typeface="Helvetica Neue"/>
              </a:rPr>
              <a:t>• Aquarium access (perk) pour le 1er grand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