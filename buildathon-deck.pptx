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0"/>
          </a:xfrm>
          <a:prstGeom prst="rect">
            <a:avLst/>
          </a:prstGeom>
          <a:solidFill>
            <a:srgbClr val="0E11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73152"/>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94415" cy="365760"/>
          </a:xfrm>
          <a:prstGeom prst="rect">
            <a:avLst/>
          </a:prstGeom>
          <a:noFill/>
        </p:spPr>
        <p:txBody>
          <a:bodyPr wrap="none">
            <a:spAutoFit/>
          </a:bodyPr>
          <a:lstStyle/>
          <a:p>
            <a:r>
              <a:rPr sz="1200" b="1">
                <a:solidFill>
                  <a:srgbClr val="D4A017"/>
                </a:solidFill>
                <a:latin typeface="Helvetica Neue"/>
              </a:rPr>
              <a:t>XRPL BUILDER · BUILDATHON PROPOSAL · v0.1</a:t>
            </a:r>
          </a:p>
        </p:txBody>
      </p:sp>
      <p:sp>
        <p:nvSpPr>
          <p:cNvPr id="5" name="TextBox 4"/>
          <p:cNvSpPr txBox="1"/>
          <p:nvPr/>
        </p:nvSpPr>
        <p:spPr>
          <a:xfrm>
            <a:off x="548640" y="914400"/>
            <a:ext cx="11094415" cy="1097280"/>
          </a:xfrm>
          <a:prstGeom prst="rect">
            <a:avLst/>
          </a:prstGeom>
          <a:noFill/>
        </p:spPr>
        <p:txBody>
          <a:bodyPr wrap="none">
            <a:spAutoFit/>
          </a:bodyPr>
          <a:lstStyle/>
          <a:p>
            <a:r>
              <a:rPr sz="4400" b="1">
                <a:solidFill>
                  <a:srgbClr val="F4EFE6"/>
                </a:solidFill>
                <a:latin typeface="Helvetica Neue"/>
              </a:rPr>
              <a:t>Buildathon XRPL Commons</a:t>
            </a:r>
          </a:p>
        </p:txBody>
      </p:sp>
      <p:sp>
        <p:nvSpPr>
          <p:cNvPr id="6" name="TextBox 5"/>
          <p:cNvSpPr txBox="1"/>
          <p:nvPr/>
        </p:nvSpPr>
        <p:spPr>
          <a:xfrm>
            <a:off x="548640" y="1783080"/>
            <a:ext cx="11094415" cy="457200"/>
          </a:xfrm>
          <a:prstGeom prst="rect">
            <a:avLst/>
          </a:prstGeom>
          <a:noFill/>
        </p:spPr>
        <p:txBody>
          <a:bodyPr wrap="none">
            <a:spAutoFit/>
          </a:bodyPr>
          <a:lstStyle/>
          <a:p>
            <a:r>
              <a:rPr sz="1800" b="0">
                <a:solidFill>
                  <a:srgbClr val="F4EFE6"/>
                </a:solidFill>
                <a:latin typeface="Helvetica Neue"/>
              </a:rPr>
              <a:t>Synthèse des recommandations · 12 sections</a:t>
            </a:r>
          </a:p>
        </p:txBody>
      </p:sp>
      <p:sp>
        <p:nvSpPr>
          <p:cNvPr id="7" name="TextBox 6"/>
          <p:cNvSpPr txBox="1"/>
          <p:nvPr/>
        </p:nvSpPr>
        <p:spPr>
          <a:xfrm>
            <a:off x="548640" y="2743200"/>
            <a:ext cx="11094415" cy="3200400"/>
          </a:xfrm>
          <a:prstGeom prst="rect">
            <a:avLst/>
          </a:prstGeom>
          <a:noFill/>
        </p:spPr>
        <p:txBody>
          <a:bodyPr wrap="square">
            <a:spAutoFit/>
          </a:bodyPr>
          <a:lstStyle/>
          <a:p>
            <a:r>
              <a:rPr sz="1400" b="0">
                <a:solidFill>
                  <a:srgbClr val="58605A"/>
                </a:solidFill>
                <a:latin typeface="Helvetica Neue"/>
              </a:rPr>
              <a:t>Une slide par section. La proposition principale (recommandation), pas les alternatives.</a:t>
            </a:r>
          </a:p>
          <a:p>
            <a:r>
              <a:rPr sz="800" b="0">
                <a:latin typeface="Helvetica Neue"/>
              </a:rPr>
              <a:t/>
            </a:r>
          </a:p>
          <a:p>
            <a:r>
              <a:rPr sz="1400" b="1">
                <a:solidFill>
                  <a:srgbClr val="0E1116"/>
                </a:solidFill>
                <a:latin typeface="Helvetica Neue"/>
              </a:rPr>
              <a:t>Sections couvertes :</a:t>
            </a:r>
          </a:p>
          <a:p>
            <a:r>
              <a:rPr sz="1200" b="0">
                <a:solidFill>
                  <a:srgbClr val="0E1116"/>
                </a:solidFill>
                <a:latin typeface="Helvetica Neue"/>
              </a:rPr>
              <a:t>  • 00 · Synthèse stratégique — 4 modèles à arbitrer</a:t>
            </a:r>
          </a:p>
          <a:p>
            <a:r>
              <a:rPr sz="1200" b="0">
                <a:solidFill>
                  <a:srgbClr val="0E1116"/>
                </a:solidFill>
                <a:latin typeface="Helvetica Neue"/>
              </a:rPr>
              <a:t>  • 01 · Nom · 02 · Format &amp; rythme · 03 · Timing</a:t>
            </a:r>
          </a:p>
          <a:p>
            <a:r>
              <a:rPr sz="1200" b="0">
                <a:solidFill>
                  <a:srgbClr val="0E1116"/>
                </a:solidFill>
                <a:latin typeface="Helvetica Neue"/>
              </a:rPr>
              <a:t>  • 04 · Registre des challenges · 05 · Prix</a:t>
            </a:r>
          </a:p>
          <a:p>
            <a:r>
              <a:rPr sz="1200" b="0">
                <a:solidFill>
                  <a:srgbClr val="0E1116"/>
                </a:solidFill>
                <a:latin typeface="Helvetica Neue"/>
              </a:rPr>
              <a:t>  • 06 · Composition du jury · 07 · Critères · 08 · Équipes</a:t>
            </a:r>
          </a:p>
          <a:p>
            <a:r>
              <a:rPr sz="1200" b="0">
                <a:solidFill>
                  <a:srgbClr val="0E1116"/>
                </a:solidFill>
                <a:latin typeface="Helvetica Neue"/>
              </a:rPr>
              <a:t>  • 09 · Office Hours · 11 · Inspiration · 12 · Variantes finales</a:t>
            </a:r>
          </a:p>
        </p:txBody>
      </p:sp>
      <p:sp>
        <p:nvSpPr>
          <p:cNvPr id="8" name="TextBox 7"/>
          <p:cNvSpPr txBox="1"/>
          <p:nvPr/>
        </p:nvSpPr>
        <p:spPr>
          <a:xfrm>
            <a:off x="548640" y="6400800"/>
            <a:ext cx="11094415" cy="274320"/>
          </a:xfrm>
          <a:prstGeom prst="rect">
            <a:avLst/>
          </a:prstGeom>
          <a:noFill/>
        </p:spPr>
        <p:txBody>
          <a:bodyPr wrap="none">
            <a:spAutoFit/>
          </a:bodyPr>
          <a:lstStyle/>
          <a:p>
            <a:r>
              <a:rPr sz="1000" b="0">
                <a:solidFill>
                  <a:srgbClr val="58605A"/>
                </a:solidFill>
                <a:latin typeface="Helvetica Neue"/>
              </a:rPr>
              <a:t>Source : xrpl-builder.vercel.app/buildathon  ·  Comité XRPL Commons  ·  Mai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00</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Synthèse stratégique — 3 modèles à arbitrer</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RECOMMANDATION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Hybrid B + C · flagship annuel + waves continues</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Un Buildathon annuel de 30 jours (modèle Colosseum) + 2-3 waves continues de 14 jours par an (modèle Akindo)</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Les 3 modèles ne sont pas exclusifs. Le marché montre que les écosystèmes qui produisent des fondateurs sérieux combinent un événement flagship (signal fort, médiatisation, deadline qui force la livraison) + un programme continu (activation ongoing, onboarding permanent, itération milestone-based).</a:t>
            </a:r>
          </a:p>
        </p:txBody>
      </p:sp>
      <p:sp>
        <p:nvSpPr>
          <p:cNvPr id="10" name="TextBox 9"/>
          <p:cNvSpPr txBox="1"/>
          <p:nvPr/>
        </p:nvSpPr>
        <p:spPr>
          <a:xfrm>
            <a:off x="502920" y="4248912"/>
            <a:ext cx="11185855" cy="2286000"/>
          </a:xfrm>
          <a:prstGeom prst="rect">
            <a:avLst/>
          </a:prstGeom>
          <a:noFill/>
        </p:spPr>
        <p:txBody>
          <a:bodyPr wrap="square">
            <a:spAutoFit/>
          </a:bodyPr>
          <a:lstStyle/>
          <a:p>
            <a:pPr>
              <a:spcAft>
                <a:spcPts val="400"/>
              </a:spcAft>
            </a:pPr>
            <a:r>
              <a:rPr sz="1200">
                <a:solidFill>
                  <a:srgbClr val="0E1116"/>
                </a:solidFill>
                <a:latin typeface="Helvetica Neue"/>
              </a:rPr>
              <a:t>• Pour : activité écosystème toute l'année · pipeline VC robuste · deadline-driven + iteration-driven · onboarding continu</a:t>
            </a:r>
          </a:p>
          <a:p>
            <a:pPr>
              <a:spcAft>
                <a:spcPts val="400"/>
              </a:spcAft>
            </a:pPr>
            <a:r>
              <a:rPr sz="1200">
                <a:solidFill>
                  <a:srgbClr val="0E1116"/>
                </a:solidFill>
                <a:latin typeface="Helvetica Neue"/>
              </a:rPr>
              <a:t>• Contre : 2 systèmes à opérer (un événement + une plateforme) · nécessite infrastructure on-chain pour les waves · plus d'overhead organisationnel</a:t>
            </a:r>
          </a:p>
        </p:txBody>
      </p:sp>
      <p:sp>
        <p:nvSpPr>
          <p:cNvPr id="11" name="TextBox 10"/>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xrpl-builder.vercel.app/buildathon</a:t>
            </a:r>
          </a:p>
        </p:txBody>
      </p:sp>
      <p:sp>
        <p:nvSpPr>
          <p:cNvPr id="12" name="TextBox 11"/>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1/12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01</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Nom — comment on appelle ça ?</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RECOMMANDATION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Building zone</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Tagline : « Where institutional DeFi gets built »</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Court, action-oriented, évoque un atelier où ça construit. Continuité avec l'asset de marque "XRPL Zone" des 4 PWG Paris (avril 2026) sans y être trop attaché — fonctionne comme un nom d'événement standalone.</a:t>
            </a:r>
          </a:p>
        </p:txBody>
      </p:sp>
      <p:sp>
        <p:nvSpPr>
          <p:cNvPr id="10" name="TextBox 9"/>
          <p:cNvSpPr txBox="1"/>
          <p:nvPr/>
        </p:nvSpPr>
        <p:spPr>
          <a:xfrm>
            <a:off x="502920" y="3971544"/>
            <a:ext cx="11185855" cy="2286000"/>
          </a:xfrm>
          <a:prstGeom prst="rect">
            <a:avLst/>
          </a:prstGeom>
          <a:noFill/>
        </p:spPr>
        <p:txBody>
          <a:bodyPr wrap="square">
            <a:spAutoFit/>
          </a:bodyPr>
          <a:lstStyle/>
          <a:p>
            <a:pPr>
              <a:spcAft>
                <a:spcPts val="400"/>
              </a:spcAft>
            </a:pPr>
            <a:r>
              <a:rPr sz="1200">
                <a:solidFill>
                  <a:srgbClr val="0E1116"/>
                </a:solidFill>
                <a:latin typeface="Helvetica Neue"/>
              </a:rPr>
              <a:t>• Pour : punchy, verbe d'action, suffisamment neutre pour scaler au-delà d'un seul événement, faible coût marketing</a:t>
            </a:r>
          </a:p>
          <a:p>
            <a:pPr>
              <a:spcAft>
                <a:spcPts val="400"/>
              </a:spcAft>
            </a:pPr>
            <a:r>
              <a:rPr sz="1200">
                <a:solidFill>
                  <a:srgbClr val="0E1116"/>
                </a:solidFill>
                <a:latin typeface="Helvetica Neue"/>
              </a:rPr>
              <a:t>• Contre : ne dit pas "XRPL" — nécessite un sous-titre pour contexte (ex : « Building zone · XRPL »)</a:t>
            </a:r>
          </a:p>
        </p:txBody>
      </p:sp>
      <p:sp>
        <p:nvSpPr>
          <p:cNvPr id="11" name="TextBox 10"/>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xrpl-builder.vercel.app/buildathon</a:t>
            </a:r>
          </a:p>
        </p:txBody>
      </p:sp>
      <p:sp>
        <p:nvSpPr>
          <p:cNvPr id="12" name="TextBox 11"/>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2/12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02</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Format &amp; rythme — combien de temps, quel cadence ?</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RECOMMANDATION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30 jours · full online</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Day 0 kickoff → 28 jours de build → Day 29 freeze → Day 30 Demo Day. 100% remote.</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Sprint compact de 30 jours, entièrement online. Pas de logistique présentielle — chaque équipe joue à armes égales mondialement. Assez long pour un MVP crédible + démo fonctionnelle (4 semaines de build), assez court pour maintenir l'urgence.</a:t>
            </a:r>
          </a:p>
        </p:txBody>
      </p:sp>
      <p:sp>
        <p:nvSpPr>
          <p:cNvPr id="10" name="TextBox 9"/>
          <p:cNvSpPr txBox="1"/>
          <p:nvPr/>
        </p:nvSpPr>
        <p:spPr>
          <a:xfrm>
            <a:off x="502920" y="4075176"/>
            <a:ext cx="11185855" cy="2286000"/>
          </a:xfrm>
          <a:prstGeom prst="rect">
            <a:avLst/>
          </a:prstGeom>
          <a:noFill/>
        </p:spPr>
        <p:txBody>
          <a:bodyPr wrap="square">
            <a:spAutoFit/>
          </a:bodyPr>
          <a:lstStyle/>
          <a:p>
            <a:pPr>
              <a:spcAft>
                <a:spcPts val="400"/>
              </a:spcAft>
            </a:pPr>
            <a:r>
              <a:rPr sz="1200">
                <a:solidFill>
                  <a:srgbClr val="0E1116"/>
                </a:solidFill>
                <a:latin typeface="Helvetica Neue"/>
              </a:rPr>
              <a:t>• Day 0 : Kickoff online, presentation and Q&amp;A session</a:t>
            </a:r>
          </a:p>
          <a:p>
            <a:pPr>
              <a:spcAft>
                <a:spcPts val="400"/>
              </a:spcAft>
            </a:pPr>
            <a:r>
              <a:rPr sz="1200">
                <a:solidFill>
                  <a:srgbClr val="0E1116"/>
                </a:solidFill>
                <a:latin typeface="Helvetica Neue"/>
              </a:rPr>
              <a:t>• Day 1 → Day 28 : Phase de build — 2 office hours/semaine (30min chacune)</a:t>
            </a:r>
          </a:p>
          <a:p>
            <a:pPr>
              <a:spcAft>
                <a:spcPts val="400"/>
              </a:spcAft>
            </a:pPr>
            <a:r>
              <a:rPr sz="1200">
                <a:solidFill>
                  <a:srgbClr val="0E1116"/>
                </a:solidFill>
                <a:latin typeface="Helvetica Neue"/>
              </a:rPr>
              <a:t>• Day 29 : Pitch deck freeze + Demo freeze — code, deck, vidéo démo tous verrouillés</a:t>
            </a:r>
          </a:p>
          <a:p>
            <a:pPr>
              <a:spcAft>
                <a:spcPts val="400"/>
              </a:spcAft>
            </a:pPr>
            <a:r>
              <a:rPr sz="1200">
                <a:solidFill>
                  <a:srgbClr val="0E1116"/>
                </a:solidFill>
                <a:latin typeface="Helvetica Neue"/>
              </a:rPr>
              <a:t>• Day 30 : Demo Day online (livestream) — gate obligatoire : projet déployé sur XRPL mainnet avec activité on-chain mesurable via SourceTag (volume, transactions, adresses). Revue jury · annonce des prix.</a:t>
            </a:r>
          </a:p>
        </p:txBody>
      </p:sp>
      <p:sp>
        <p:nvSpPr>
          <p:cNvPr id="11" name="TextBox 10"/>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xrpl-builder.vercel.app/buildathon</a:t>
            </a:r>
          </a:p>
        </p:txBody>
      </p:sp>
      <p:sp>
        <p:nvSpPr>
          <p:cNvPr id="12" name="TextBox 11"/>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3/12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03</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Timing — quand ça se passe ?</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RECOMMANDATION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Mer 17 juin → Ven 17 juillet 2026 · 30 jours</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Kickoff mercredi 17 juin, Demo Day vendredi 17 juillet — exactement 30 jours, full online</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Livre AVANT la trêve estivale (les builders rentrent en août avec le code en main). Aligné avec XLS-66 mainnet (lending live été 2026). Énergie post-PWG (avril 2026) encore fraîche.</a:t>
            </a:r>
          </a:p>
        </p:txBody>
      </p:sp>
      <p:sp>
        <p:nvSpPr>
          <p:cNvPr id="10" name="TextBox 9"/>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xrpl-builder.vercel.app/buildathon</a:t>
            </a:r>
          </a:p>
        </p:txBody>
      </p:sp>
      <p:sp>
        <p:nvSpPr>
          <p:cNvPr id="11" name="TextBox 10"/>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4/12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04</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Registre des challenges — que peuvent construire les équipes ?</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RECOMMANDATION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Registre /opportunities — 39 opportunités APP, 7 thèmes</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Le challenge register du Buildathon = le sous-ensemble APP du registre unifié /opportunities (single source of truth · convergence PWG + ATKA + ECO + YC + interviews). Les 24 opps de type TOOL (librairies, primitives, SDKs) sont hors-scope du Buildathon — destinées à des équipes existantes / contributeurs core.</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Les équipes choisissent un challenge parmi les 39 opportunités APP du registre, réparties sur 7 thèmes : Wallets (6) · Infra (4) · Lending (5) · RWA &amp; Stables (5) · EVM DeFi (6) · Dev Tooling (4) · AI Agents (9). Bracket des prix mappé sur les 3 tiers du registre :</a:t>
            </a:r>
          </a:p>
        </p:txBody>
      </p:sp>
      <p:sp>
        <p:nvSpPr>
          <p:cNvPr id="10" name="TextBox 9"/>
          <p:cNvSpPr txBox="1"/>
          <p:nvPr/>
        </p:nvSpPr>
        <p:spPr>
          <a:xfrm>
            <a:off x="502920" y="4145280"/>
            <a:ext cx="11185855" cy="2286000"/>
          </a:xfrm>
          <a:prstGeom prst="rect">
            <a:avLst/>
          </a:prstGeom>
          <a:noFill/>
        </p:spPr>
        <p:txBody>
          <a:bodyPr wrap="square">
            <a:spAutoFit/>
          </a:bodyPr>
          <a:lstStyle/>
          <a:p>
            <a:pPr>
              <a:spcAft>
                <a:spcPts val="400"/>
              </a:spcAft>
            </a:pPr>
            <a:r>
              <a:rPr sz="1200">
                <a:solidFill>
                  <a:srgbClr val="0E1116"/>
                </a:solidFill>
                <a:latin typeface="Helvetica Neue"/>
              </a:rPr>
              <a:t>• Tier HIGH (×6 challenges APP) → Bracket Grand Prix. Les opps user-facing à plus fort impact : OPP-018 · B2B Stablecoin FX desk / corridor (infra)</a:t>
            </a:r>
          </a:p>
          <a:p>
            <a:pPr>
              <a:spcAft>
                <a:spcPts val="400"/>
              </a:spcAft>
            </a:pPr>
            <a:r>
              <a:rPr sz="1200">
                <a:solidFill>
                  <a:srgbClr val="0E1116"/>
                </a:solidFill>
                <a:latin typeface="Helvetica Neue"/>
              </a:rPr>
              <a:t>• OPP-021 · Lending Protocol on EVM Sidechain (Morpho-style) (lending)</a:t>
            </a:r>
          </a:p>
          <a:p>
            <a:pPr>
              <a:spcAft>
                <a:spcPts val="400"/>
              </a:spcAft>
            </a:pPr>
            <a:r>
              <a:rPr sz="1200">
                <a:solidFill>
                  <a:srgbClr val="0E1116"/>
                </a:solidFill>
                <a:latin typeface="Helvetica Neue"/>
              </a:rPr>
              <a:t>• OPP-025 · Lending front-end on Single Asset Vault (pre-XLS-66) (lending)</a:t>
            </a:r>
          </a:p>
          <a:p>
            <a:pPr>
              <a:spcAft>
                <a:spcPts val="400"/>
              </a:spcAft>
            </a:pPr>
            <a:r>
              <a:rPr sz="1200">
                <a:solidFill>
                  <a:srgbClr val="0E1116"/>
                </a:solidFill>
                <a:latin typeface="Helvetica Neue"/>
              </a:rPr>
              <a:t>• OPP-031 · Compliance-native consumer payments (Wise-on-XRPL) (rwa-stable)</a:t>
            </a:r>
          </a:p>
          <a:p>
            <a:pPr>
              <a:spcAft>
                <a:spcPts val="400"/>
              </a:spcAft>
            </a:pPr>
            <a:r>
              <a:rPr sz="1200">
                <a:solidFill>
                  <a:srgbClr val="0E1116"/>
                </a:solidFill>
                <a:latin typeface="Helvetica Neue"/>
              </a:rPr>
              <a:t>• OPP-033 · Restaking Protocol for XRP (Babylon-fork) (evm-defi)</a:t>
            </a:r>
          </a:p>
        </p:txBody>
      </p:sp>
      <p:sp>
        <p:nvSpPr>
          <p:cNvPr id="11" name="TextBox 10"/>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xrpl-builder.vercel.app/buildathon</a:t>
            </a:r>
          </a:p>
        </p:txBody>
      </p:sp>
      <p:sp>
        <p:nvSpPr>
          <p:cNvPr id="12" name="TextBox 11"/>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5/12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05</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Prix — qu'est-ce que gagnent les gagnants ?</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RECOMMANDATION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Pool 30k USD · volume-gated en XRP</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Prize pool total 30 000 USD (distribué en XRP) + perks (fast-track Aquarium, intro Ripple Investments, mentoring)</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Inspiré du modèle "RFS + live traction" (interview Florence) — filtre les démos polies, récompense ceux qui comprennent la distribution.</a:t>
            </a:r>
          </a:p>
        </p:txBody>
      </p:sp>
      <p:sp>
        <p:nvSpPr>
          <p:cNvPr id="10" name="TextBox 9"/>
          <p:cNvSpPr txBox="1"/>
          <p:nvPr/>
        </p:nvSpPr>
        <p:spPr>
          <a:xfrm>
            <a:off x="502920" y="3752088"/>
            <a:ext cx="11185855" cy="2286000"/>
          </a:xfrm>
          <a:prstGeom prst="rect">
            <a:avLst/>
          </a:prstGeom>
          <a:noFill/>
        </p:spPr>
        <p:txBody>
          <a:bodyPr wrap="square">
            <a:spAutoFit/>
          </a:bodyPr>
          <a:lstStyle/>
          <a:p>
            <a:pPr>
              <a:spcAft>
                <a:spcPts val="400"/>
              </a:spcAft>
            </a:pPr>
            <a:r>
              <a:rPr sz="1200">
                <a:solidFill>
                  <a:srgbClr val="0E1116"/>
                </a:solidFill>
                <a:latin typeface="Helvetica Neue"/>
              </a:rPr>
              <a:t>• Projet déployé sur XRPL mainnet au plus tard au jour 30</a:t>
            </a:r>
          </a:p>
          <a:p>
            <a:pPr>
              <a:spcAft>
                <a:spcPts val="400"/>
              </a:spcAft>
            </a:pPr>
            <a:r>
              <a:rPr sz="1200">
                <a:solidFill>
                  <a:srgbClr val="0E1116"/>
                </a:solidFill>
                <a:latin typeface="Helvetica Neue"/>
              </a:rPr>
              <a:t>• Activité on-chain mesurable au jour 30 : volume · transactions · adresses uniques</a:t>
            </a:r>
          </a:p>
        </p:txBody>
      </p:sp>
      <p:sp>
        <p:nvSpPr>
          <p:cNvPr id="11" name="TextBox 10"/>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xrpl-builder.vercel.app/buildathon</a:t>
            </a:r>
          </a:p>
        </p:txBody>
      </p:sp>
      <p:sp>
        <p:nvSpPr>
          <p:cNvPr id="12" name="TextBox 11"/>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6/12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06</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Composition du jury — qui décide ?</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RECOMMANDATION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XRPL Commons (seul)</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Jury mono-organisation — ownership clair, décisions rapides</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XRPL Commons gère le jury seul. Connaît les builders, connaît la roadmap Atlas, owns la qualité du programme. Pas d'overhead de coordination, pas de cauchemar de scheduling, accountability claire si un résultat est contesté.</a:t>
            </a:r>
          </a:p>
        </p:txBody>
      </p:sp>
      <p:sp>
        <p:nvSpPr>
          <p:cNvPr id="10" name="TextBox 9"/>
          <p:cNvSpPr txBox="1"/>
          <p:nvPr/>
        </p:nvSpPr>
        <p:spPr>
          <a:xfrm>
            <a:off x="502920" y="4020312"/>
            <a:ext cx="11185855" cy="2286000"/>
          </a:xfrm>
          <a:prstGeom prst="rect">
            <a:avLst/>
          </a:prstGeom>
          <a:noFill/>
        </p:spPr>
        <p:txBody>
          <a:bodyPr wrap="square">
            <a:spAutoFit/>
          </a:bodyPr>
          <a:lstStyle/>
          <a:p>
            <a:pPr>
              <a:spcAft>
                <a:spcPts val="400"/>
              </a:spcAft>
            </a:pPr>
            <a:r>
              <a:rPr sz="1200">
                <a:solidFill>
                  <a:srgbClr val="0E1116"/>
                </a:solidFill>
                <a:latin typeface="Helvetica Neue"/>
              </a:rPr>
              <a:t>• Pour : simple, rapide, ownership clair, pas de friction de scheduling</a:t>
            </a:r>
          </a:p>
          <a:p>
            <a:pPr>
              <a:spcAft>
                <a:spcPts val="400"/>
              </a:spcAft>
            </a:pPr>
            <a:r>
              <a:rPr sz="1200">
                <a:solidFill>
                  <a:srgbClr val="0E1116"/>
                </a:solidFill>
                <a:latin typeface="Helvetica Neue"/>
              </a:rPr>
              <a:t>• Contre : pas d'équilibrage advocacy/accountability externe — risque d'être perçu comme trop interne</a:t>
            </a:r>
          </a:p>
        </p:txBody>
      </p:sp>
      <p:sp>
        <p:nvSpPr>
          <p:cNvPr id="11" name="TextBox 10"/>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xrpl-builder.vercel.app/buildathon</a:t>
            </a:r>
          </a:p>
        </p:txBody>
      </p:sp>
      <p:sp>
        <p:nvSpPr>
          <p:cNvPr id="12" name="TextBox 11"/>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7/12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07</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Critères de jury — comment se mesure le "winning" ?</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RECOMMANDATION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4 critères — simples &amp; pondérés</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Total = 100%, publié aux candidats dès le départ</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Simple à communiquer, facile à optimiser pour une équipe, pas d'overlap. Traction est le nouveau levier (remplace « Distribution thinking » + « Gap fit » combinés) : dans un format 30 jours full online, des signups réels et un usage démontré sont le signal le plus fiable.</a:t>
            </a:r>
          </a:p>
        </p:txBody>
      </p:sp>
      <p:sp>
        <p:nvSpPr>
          <p:cNvPr id="10" name="TextBox 9"/>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xrpl-builder.vercel.app/buildathon</a:t>
            </a:r>
          </a:p>
        </p:txBody>
      </p:sp>
      <p:sp>
        <p:nvSpPr>
          <p:cNvPr id="11" name="TextBox 10"/>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8/12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08</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Composition d'équipe — taille &amp; profil ?</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RECOMMANDATION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Solo ou équipe — pas de min, pas de max</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Accessibilité max — n'importe qui peut postuler, seul ou avec cofondateurs</a:t>
            </a:r>
          </a:p>
        </p:txBody>
      </p:sp>
      <p:sp>
        <p:nvSpPr>
          <p:cNvPr id="9" name="TextBox 8"/>
          <p:cNvSpPr txBox="1"/>
          <p:nvPr/>
        </p:nvSpPr>
        <p:spPr>
          <a:xfrm>
            <a:off x="502920" y="2971800"/>
            <a:ext cx="11185855" cy="2286000"/>
          </a:xfrm>
          <a:prstGeom prst="rect">
            <a:avLst/>
          </a:prstGeom>
          <a:noFill/>
        </p:spPr>
        <p:txBody>
          <a:bodyPr wrap="square">
            <a:spAutoFit/>
          </a:bodyPr>
          <a:lstStyle/>
          <a:p>
            <a:pPr>
              <a:spcAft>
                <a:spcPts val="400"/>
              </a:spcAft>
            </a:pPr>
            <a:r>
              <a:rPr sz="1200">
                <a:solidFill>
                  <a:srgbClr val="0E1116"/>
                </a:solidFill>
                <a:latin typeface="Helvetica Neue"/>
              </a:rPr>
              <a:t>• Pas de minimum — les solo applicants sont bienvenus et éligibles à tous les tiers de prix</a:t>
            </a:r>
          </a:p>
          <a:p>
            <a:pPr>
              <a:spcAft>
                <a:spcPts val="400"/>
              </a:spcAft>
            </a:pPr>
            <a:r>
              <a:rPr sz="1200">
                <a:solidFill>
                  <a:srgbClr val="0E1116"/>
                </a:solidFill>
                <a:latin typeface="Helvetica Neue"/>
              </a:rPr>
              <a:t>• Pas de maximum — les équipes de toute taille peuvent postuler (mais le jury pondère la clarté de la contribution individuelle dans le scoring)</a:t>
            </a:r>
          </a:p>
          <a:p>
            <a:pPr>
              <a:spcAft>
                <a:spcPts val="400"/>
              </a:spcAft>
            </a:pPr>
            <a:r>
              <a:rPr sz="1200">
                <a:solidFill>
                  <a:srgbClr val="0E1116"/>
                </a:solidFill>
                <a:latin typeface="Helvetica Neue"/>
              </a:rPr>
              <a:t>• Diversité géographique encouragée — format full online = n'importe qui, n'importe où peut concourir</a:t>
            </a:r>
          </a:p>
          <a:p>
            <a:pPr>
              <a:spcAft>
                <a:spcPts val="400"/>
              </a:spcAft>
            </a:pPr>
            <a:r>
              <a:rPr sz="1200">
                <a:solidFill>
                  <a:srgbClr val="0E1116"/>
                </a:solidFill>
                <a:latin typeface="Helvetica Neue"/>
              </a:rPr>
              <a:t>• Alumni Aquarium / Hackathon sont éligibles au prix dédié "From the community" (500 €)</a:t>
            </a:r>
          </a:p>
        </p:txBody>
      </p:sp>
      <p:sp>
        <p:nvSpPr>
          <p:cNvPr id="10" name="TextBox 9"/>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xrpl-builder.vercel.app/buildathon</a:t>
            </a:r>
          </a:p>
        </p:txBody>
      </p:sp>
      <p:sp>
        <p:nvSpPr>
          <p:cNvPr id="11" name="TextBox 10"/>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9/12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09 · NEW</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Office Hours — support des équipes pendant le build</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RECOMMANDATION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2 slots fixes/semaine · 30 min chacun + 1 jour IRL/semaine à la Commons House</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Pendant la phase de build de 4 semaines (Day 1 → Day 28, 18 juin → 15 juil)</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Pourquoi 2 slots fixes + 1 jour IRL : crée un battement de cœur pour la cohorte (online + offline), rend le scheduling des mentors gérable, permet aux équipes de planifier leur semaine. Le jour à la Commons House casse l'isolement du full-online et crée des liens cross-équipes. Le Discord async couvre tout le reste.</a:t>
            </a:r>
          </a:p>
        </p:txBody>
      </p:sp>
      <p:sp>
        <p:nvSpPr>
          <p:cNvPr id="10" name="TextBox 9"/>
          <p:cNvSpPr txBox="1"/>
          <p:nvPr/>
        </p:nvSpPr>
        <p:spPr>
          <a:xfrm>
            <a:off x="502920" y="4303776"/>
            <a:ext cx="11185855" cy="2286000"/>
          </a:xfrm>
          <a:prstGeom prst="rect">
            <a:avLst/>
          </a:prstGeom>
          <a:noFill/>
        </p:spPr>
        <p:txBody>
          <a:bodyPr wrap="square">
            <a:spAutoFit/>
          </a:bodyPr>
          <a:lstStyle/>
          <a:p>
            <a:pPr>
              <a:spcAft>
                <a:spcPts val="400"/>
              </a:spcAft>
            </a:pPr>
            <a:r>
              <a:rPr sz="1200">
                <a:solidFill>
                  <a:srgbClr val="0E1116"/>
                </a:solidFill>
                <a:latin typeface="Helvetica Neue"/>
              </a:rPr>
              <a:t>• 🏠 Build at the Commons House — 1 jour par semaine, venez développer votre projet dans nos locaux. Coworking IRL ouvert aux équipes parisiennes (ou de passage), accès aux mentors XRPL Commons en présentiel, déjeuner …</a:t>
            </a:r>
          </a:p>
          <a:p>
            <a:pPr>
              <a:spcAft>
                <a:spcPts val="400"/>
              </a:spcAft>
            </a:pPr>
            <a:r>
              <a:rPr sz="1200">
                <a:solidFill>
                  <a:srgbClr val="0E1116"/>
                </a:solidFill>
                <a:latin typeface="Helvetica Neue"/>
              </a:rPr>
              <a:t>• Mardi 11h–11h30 CET — Tech Office Hour (XRPL devrel + Ripple infra). Topics : specs XLS-66 / XLS-65 / XLS-70, code review, debug d'intégration. Live group call (Zoom), enregistré.</a:t>
            </a:r>
          </a:p>
          <a:p>
            <a:pPr>
              <a:spcAft>
                <a:spcPts val="400"/>
              </a:spcAft>
            </a:pPr>
            <a:r>
              <a:rPr sz="1200">
                <a:solidFill>
                  <a:srgbClr val="0E1116"/>
                </a:solidFill>
                <a:latin typeface="Helvetica Neue"/>
              </a:rPr>
              <a:t>• Jeudi 16h–16h30 CET — Product / GTM Office Hour (XRPL Commons + alumni Aquarium). Topics : positionnement, pitch shaping, distribution strategy, intégrations RLUSD/CEX. Live group call, enregistré.</a:t>
            </a:r>
          </a:p>
          <a:p>
            <a:pPr>
              <a:spcAft>
                <a:spcPts val="400"/>
              </a:spcAft>
            </a:pPr>
            <a:r>
              <a:rPr sz="1200">
                <a:solidFill>
                  <a:srgbClr val="0E1116"/>
                </a:solidFill>
                <a:latin typeface="Helvetica Neue"/>
              </a:rPr>
              <a:t>• AMA on-demand — async via canal Discord dédié. Réponse ≤24h depuis un pool de mentors rotatif d'environ 10 personnes.</a:t>
            </a:r>
          </a:p>
          <a:p>
            <a:pPr>
              <a:spcAft>
                <a:spcPts val="400"/>
              </a:spcAft>
            </a:pPr>
            <a:r>
              <a:rPr sz="1200">
                <a:solidFill>
                  <a:srgbClr val="0E1116"/>
                </a:solidFill>
                <a:latin typeface="Helvetica Neue"/>
              </a:rPr>
              <a:t>• 1:1 office hours réservables via Calendly partagé (max 30min/semaine par équipe) — pour stratégie produit, IP/légal, prépa fundraising.</a:t>
            </a:r>
          </a:p>
        </p:txBody>
      </p:sp>
      <p:sp>
        <p:nvSpPr>
          <p:cNvPr id="11" name="TextBox 10"/>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xrpl-builder.vercel.app/buildathon</a:t>
            </a:r>
          </a:p>
        </p:txBody>
      </p:sp>
      <p:sp>
        <p:nvSpPr>
          <p:cNvPr id="12" name="TextBox 11"/>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10/12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11</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 Inspiration — benchmark du marché 2026</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RECOMMANDATION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
            </a:r>
          </a:p>
        </p:txBody>
      </p:sp>
      <p:sp>
        <p:nvSpPr>
          <p:cNvPr id="8" name="TextBox 7"/>
          <p:cNvSpPr txBox="1"/>
          <p:nvPr/>
        </p:nvSpPr>
        <p:spPr>
          <a:xfrm>
            <a:off x="502920" y="2468880"/>
            <a:ext cx="11185855" cy="1371600"/>
          </a:xfrm>
          <a:prstGeom prst="rect">
            <a:avLst/>
          </a:prstGeom>
          <a:noFill/>
        </p:spPr>
        <p:txBody>
          <a:bodyPr wrap="square">
            <a:spAutoFit/>
          </a:bodyPr>
          <a:lstStyle/>
          <a:p>
            <a:r>
              <a:rPr sz="1300" b="0">
                <a:solidFill>
                  <a:srgbClr val="0E1116"/>
                </a:solidFill>
                <a:latin typeface="Helvetica Neue"/>
              </a:rPr>
              <a:t>Recherche menée mai 2026. 4 modèles principaux analysés (Solana Colosseum, ETHGlobal, Anthropic AI hackathons, Akindo/WaveHack) + 1 plateforme générique (Lablab.ai). Sources publiques.</a:t>
            </a:r>
          </a:p>
        </p:txBody>
      </p:sp>
      <p:sp>
        <p:nvSpPr>
          <p:cNvPr id="9" name="TextBox 8"/>
          <p:cNvSpPr txBox="1"/>
          <p:nvPr/>
        </p:nvSpPr>
        <p:spPr>
          <a:xfrm>
            <a:off x="502920" y="3395472"/>
            <a:ext cx="11185855" cy="2286000"/>
          </a:xfrm>
          <a:prstGeom prst="rect">
            <a:avLst/>
          </a:prstGeom>
          <a:noFill/>
        </p:spPr>
        <p:txBody>
          <a:bodyPr wrap="square">
            <a:spAutoFit/>
          </a:bodyPr>
          <a:lstStyle/>
          <a:p>
            <a:pPr>
              <a:spcAft>
                <a:spcPts val="400"/>
              </a:spcAft>
            </a:pPr>
            <a:r>
              <a:rPr sz="1200">
                <a:solidFill>
                  <a:srgbClr val="0E1116"/>
                </a:solidFill>
                <a:latin typeface="Helvetica Neue"/>
              </a:rPr>
              <a:t>• Trop court (24-48h) → projets superficiels, no follow-up</a:t>
            </a:r>
          </a:p>
          <a:p>
            <a:pPr>
              <a:spcAft>
                <a:spcPts val="400"/>
              </a:spcAft>
            </a:pPr>
            <a:r>
              <a:rPr sz="1200">
                <a:solidFill>
                  <a:srgbClr val="0E1116"/>
                </a:solidFill>
                <a:latin typeface="Helvetica Neue"/>
              </a:rPr>
              <a:t>• Trop ouvert (accept-all) → bruit, mentors débordés, qualité diluée</a:t>
            </a:r>
          </a:p>
          <a:p>
            <a:pPr>
              <a:spcAft>
                <a:spcPts val="400"/>
              </a:spcAft>
            </a:pPr>
            <a:r>
              <a:rPr sz="1200">
                <a:solidFill>
                  <a:srgbClr val="0E1116"/>
                </a:solidFill>
                <a:latin typeface="Helvetica Neue"/>
              </a:rPr>
              <a:t>• 100% cash, pas d'accelerator → winners disparaissent après le chèque</a:t>
            </a:r>
          </a:p>
          <a:p>
            <a:pPr>
              <a:spcAft>
                <a:spcPts val="400"/>
              </a:spcAft>
            </a:pPr>
            <a:r>
              <a:rPr sz="1200">
                <a:solidFill>
                  <a:srgbClr val="0E1116"/>
                </a:solidFill>
                <a:latin typeface="Helvetica Neue"/>
              </a:rPr>
              <a:t>• Pas de challenge guide → projets aléatoires non alignés avec les vrais gaps (XRPL Builder évite ça grâce à /opportunities)</a:t>
            </a:r>
          </a:p>
          <a:p>
            <a:pPr>
              <a:spcAft>
                <a:spcPts val="400"/>
              </a:spcAft>
            </a:pPr>
            <a:r>
              <a:rPr sz="1200">
                <a:solidFill>
                  <a:srgbClr val="0E1116"/>
                </a:solidFill>
                <a:latin typeface="Helvetica Neue"/>
              </a:rPr>
              <a:t>• IRL only → barrière d'entrée pour devs non-US/Europe</a:t>
            </a:r>
          </a:p>
        </p:txBody>
      </p:sp>
      <p:sp>
        <p:nvSpPr>
          <p:cNvPr id="10" name="TextBox 9"/>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xrpl-builder.vercel.app/buildathon</a:t>
            </a:r>
          </a:p>
        </p:txBody>
      </p:sp>
      <p:sp>
        <p:nvSpPr>
          <p:cNvPr id="11" name="TextBox 10"/>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11/12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0"/>
            <a:ext cx="11963095" cy="1280160"/>
          </a:xfrm>
          <a:prstGeom prst="rect">
            <a:avLst/>
          </a:prstGeom>
          <a:solidFill>
            <a:srgbClr val="ECE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2743200" cy="365760"/>
          </a:xfrm>
          <a:prstGeom prst="rect">
            <a:avLst/>
          </a:prstGeom>
          <a:noFill/>
        </p:spPr>
        <p:txBody>
          <a:bodyPr wrap="none">
            <a:spAutoFit/>
          </a:bodyPr>
          <a:lstStyle/>
          <a:p>
            <a:r>
              <a:rPr sz="1100" b="1">
                <a:solidFill>
                  <a:srgbClr val="58605A"/>
                </a:solidFill>
                <a:latin typeface="Helvetica Neue"/>
              </a:rPr>
              <a:t>SECTION 12</a:t>
            </a:r>
          </a:p>
        </p:txBody>
      </p:sp>
      <p:sp>
        <p:nvSpPr>
          <p:cNvPr id="5" name="TextBox 4"/>
          <p:cNvSpPr txBox="1"/>
          <p:nvPr/>
        </p:nvSpPr>
        <p:spPr>
          <a:xfrm>
            <a:off x="502920" y="594360"/>
            <a:ext cx="11185855" cy="685800"/>
          </a:xfrm>
          <a:prstGeom prst="rect">
            <a:avLst/>
          </a:prstGeom>
          <a:noFill/>
        </p:spPr>
        <p:txBody>
          <a:bodyPr wrap="none">
            <a:spAutoFit/>
          </a:bodyPr>
          <a:lstStyle/>
          <a:p>
            <a:r>
              <a:rPr sz="2600" b="1">
                <a:solidFill>
                  <a:srgbClr val="0E1116"/>
                </a:solidFill>
                <a:latin typeface="Helvetica Neue"/>
              </a:rPr>
              <a:t>🎯 Variantes finales — le choix du comité</a:t>
            </a:r>
          </a:p>
        </p:txBody>
      </p:sp>
      <p:sp>
        <p:nvSpPr>
          <p:cNvPr id="6" name="TextBox 5"/>
          <p:cNvSpPr txBox="1"/>
          <p:nvPr/>
        </p:nvSpPr>
        <p:spPr>
          <a:xfrm>
            <a:off x="502920" y="1554480"/>
            <a:ext cx="2743200" cy="365760"/>
          </a:xfrm>
          <a:prstGeom prst="rect">
            <a:avLst/>
          </a:prstGeom>
          <a:noFill/>
        </p:spPr>
        <p:txBody>
          <a:bodyPr wrap="none">
            <a:spAutoFit/>
          </a:bodyPr>
          <a:lstStyle/>
          <a:p>
            <a:r>
              <a:rPr sz="1100" b="1">
                <a:solidFill>
                  <a:srgbClr val="E87722"/>
                </a:solidFill>
                <a:latin typeface="Helvetica Neue"/>
              </a:rPr>
              <a:t>RECOMMANDATION</a:t>
            </a:r>
          </a:p>
        </p:txBody>
      </p:sp>
      <p:sp>
        <p:nvSpPr>
          <p:cNvPr id="7" name="TextBox 6"/>
          <p:cNvSpPr txBox="1"/>
          <p:nvPr/>
        </p:nvSpPr>
        <p:spPr>
          <a:xfrm>
            <a:off x="502920" y="1828800"/>
            <a:ext cx="11185855" cy="640080"/>
          </a:xfrm>
          <a:prstGeom prst="rect">
            <a:avLst/>
          </a:prstGeom>
          <a:noFill/>
        </p:spPr>
        <p:txBody>
          <a:bodyPr wrap="none">
            <a:spAutoFit/>
          </a:bodyPr>
          <a:lstStyle/>
          <a:p>
            <a:r>
              <a:rPr sz="2200" b="1">
                <a:solidFill>
                  <a:srgbClr val="0E1116"/>
                </a:solidFill>
                <a:latin typeface="Helvetica Neue"/>
              </a:rPr>
              <a:t>Variante 1 · Hybrid · flagship annuel + waves continues</a:t>
            </a:r>
          </a:p>
        </p:txBody>
      </p:sp>
      <p:sp>
        <p:nvSpPr>
          <p:cNvPr id="8" name="TextBox 7"/>
          <p:cNvSpPr txBox="1"/>
          <p:nvPr/>
        </p:nvSpPr>
        <p:spPr>
          <a:xfrm>
            <a:off x="502920" y="2468880"/>
            <a:ext cx="11185855" cy="457200"/>
          </a:xfrm>
          <a:prstGeom prst="rect">
            <a:avLst/>
          </a:prstGeom>
          <a:noFill/>
        </p:spPr>
        <p:txBody>
          <a:bodyPr wrap="none">
            <a:spAutoFit/>
          </a:bodyPr>
          <a:lstStyle/>
          <a:p>
            <a:r>
              <a:rPr sz="1400" b="0">
                <a:solidFill>
                  <a:srgbClr val="58605A"/>
                </a:solidFill>
                <a:latin typeface="Helvetica Neue"/>
              </a:rPr>
              <a:t>Combine modèle Colosseum (B) + Akindo (C) — le plus complet, le plus ambitieux</a:t>
            </a:r>
          </a:p>
        </p:txBody>
      </p:sp>
      <p:sp>
        <p:nvSpPr>
          <p:cNvPr id="9" name="TextBox 8"/>
          <p:cNvSpPr txBox="1"/>
          <p:nvPr/>
        </p:nvSpPr>
        <p:spPr>
          <a:xfrm>
            <a:off x="502920" y="2971800"/>
            <a:ext cx="11185855" cy="1371600"/>
          </a:xfrm>
          <a:prstGeom prst="rect">
            <a:avLst/>
          </a:prstGeom>
          <a:noFill/>
        </p:spPr>
        <p:txBody>
          <a:bodyPr wrap="square">
            <a:spAutoFit/>
          </a:bodyPr>
          <a:lstStyle/>
          <a:p>
            <a:r>
              <a:rPr sz="1300" b="0">
                <a:solidFill>
                  <a:srgbClr val="0E1116"/>
                </a:solidFill>
                <a:latin typeface="Helvetica Neue"/>
              </a:rPr>
              <a:t>Format :</a:t>
            </a:r>
          </a:p>
        </p:txBody>
      </p:sp>
      <p:sp>
        <p:nvSpPr>
          <p:cNvPr id="10" name="TextBox 9"/>
          <p:cNvSpPr txBox="1"/>
          <p:nvPr/>
        </p:nvSpPr>
        <p:spPr>
          <a:xfrm>
            <a:off x="502920" y="3361944"/>
            <a:ext cx="11185855" cy="2286000"/>
          </a:xfrm>
          <a:prstGeom prst="rect">
            <a:avLst/>
          </a:prstGeom>
          <a:noFill/>
        </p:spPr>
        <p:txBody>
          <a:bodyPr wrap="square">
            <a:spAutoFit/>
          </a:bodyPr>
          <a:lstStyle/>
          <a:p>
            <a:pPr>
              <a:spcAft>
                <a:spcPts val="400"/>
              </a:spcAft>
            </a:pPr>
            <a:r>
              <a:rPr sz="1200">
                <a:solidFill>
                  <a:srgbClr val="0E1116"/>
                </a:solidFill>
                <a:latin typeface="Helvetica Neue"/>
              </a:rPr>
              <a:t>• Buildathon flagship annuel · 30 jours online · selection curated 30-50 équipes · finale IRL à Apex · prize pool $300-500k cash + investissement pre-seed top 5 ($50k × 5 = $250k)</a:t>
            </a:r>
          </a:p>
          <a:p>
            <a:pPr>
              <a:spcAft>
                <a:spcPts val="400"/>
              </a:spcAft>
            </a:pPr>
            <a:r>
              <a:rPr sz="1200">
                <a:solidFill>
                  <a:srgbClr val="0E1116"/>
                </a:solidFill>
                <a:latin typeface="Helvetica Neue"/>
              </a:rPr>
              <a:t>• Waves continues (2-3 par an, entre flagships) · 14 jours chacune · pool $50-100k par wave distribué on-chain (RLUSD) à 20-30 projets · milestone-based · pas de jury formel, vote communauté</a:t>
            </a:r>
          </a:p>
          <a:p>
            <a:pPr>
              <a:spcAft>
                <a:spcPts val="400"/>
              </a:spcAft>
            </a:pPr>
            <a:r>
              <a:rPr sz="1200">
                <a:solidFill>
                  <a:srgbClr val="0E1116"/>
                </a:solidFill>
                <a:latin typeface="Helvetica Neue"/>
              </a:rPr>
              <a:t>• Accelerator post-flagship · 8 semaines pour top 5 du flagship · mentorship XRPL Commons + Ripple Ventures · objectif PMF + premier tour seed</a:t>
            </a:r>
          </a:p>
        </p:txBody>
      </p:sp>
      <p:sp>
        <p:nvSpPr>
          <p:cNvPr id="11" name="TextBox 10"/>
          <p:cNvSpPr txBox="1"/>
          <p:nvPr/>
        </p:nvSpPr>
        <p:spPr>
          <a:xfrm>
            <a:off x="502920" y="6446520"/>
            <a:ext cx="11185855" cy="274320"/>
          </a:xfrm>
          <a:prstGeom prst="rect">
            <a:avLst/>
          </a:prstGeom>
          <a:noFill/>
        </p:spPr>
        <p:txBody>
          <a:bodyPr wrap="none">
            <a:spAutoFit/>
          </a:bodyPr>
          <a:lstStyle/>
          <a:p>
            <a:pPr algn="l"/>
            <a:r>
              <a:rPr sz="900">
                <a:solidFill>
                  <a:srgbClr val="58605A"/>
                </a:solidFill>
                <a:latin typeface="Helvetica Neue"/>
              </a:rPr>
              <a:t>xrpl-builder.vercel.app/buildathon</a:t>
            </a:r>
          </a:p>
        </p:txBody>
      </p:sp>
      <p:sp>
        <p:nvSpPr>
          <p:cNvPr id="12" name="TextBox 11"/>
          <p:cNvSpPr txBox="1"/>
          <p:nvPr/>
        </p:nvSpPr>
        <p:spPr>
          <a:xfrm>
            <a:off x="10820095" y="6446520"/>
            <a:ext cx="1097280" cy="274320"/>
          </a:xfrm>
          <a:prstGeom prst="rect">
            <a:avLst/>
          </a:prstGeom>
          <a:noFill/>
        </p:spPr>
        <p:txBody>
          <a:bodyPr wrap="none">
            <a:spAutoFit/>
          </a:bodyPr>
          <a:lstStyle/>
          <a:p>
            <a:pPr algn="r"/>
            <a:r>
              <a:rPr sz="900">
                <a:solidFill>
                  <a:srgbClr val="58605A"/>
                </a:solidFill>
                <a:latin typeface="Helvetica Neue"/>
              </a:rPr>
              <a:t>12/12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